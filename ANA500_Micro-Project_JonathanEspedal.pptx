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B80B8E1D-9B63-41A0-BC28-F153D6318221}"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0B271DB-3A43-4F69-ADD2-8961AAD6B456}"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B20F2A6F-B516-48FD-9A58-2FD10D516768}"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10E78F5-B456-45AF-8980-3CA2896C43A3}"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2F9FED63-883A-47F2-96DD-8F76C320DC9E}"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D8F0201D-1E1D-45B8-A700-550111697F13}"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F1011A4-E271-4445-926B-4892A7C71FD9}"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1D95C8A-94E5-474D-BFEB-2D6175DA285F}"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7892F4E-CA27-412C-9F35-9D44F44B6DD1}"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BEF8C0BB-93B7-4D7E-94E2-B9B7F5830580}"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19A853C6-958C-4CC1-A060-D4D858F56F94}"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E582C10E-3E8F-4397-BB09-1E1B6FB93D62}"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A5D2B5AA-1084-40B3-8F71-2DE4478F447D}"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3F4C431-BB6C-4762-9932-9836C10562A3}"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FF0BC9F1-9441-4424-B7C4-EA09908B6D41}"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EA0EA838-8025-4418-9548-D4AA2CAAC7D3}"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732E4934-6D06-4F76-823A-12DE565C55EE}"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0E546975-7940-4260-9A1F-8FF6153B2DCE}"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D9A10F68-E6E6-4817-9DD3-ED8702AD3144}"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B981942-0BCC-4D72-9FB4-FC3F83209AE6}"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8A10397A-39C2-4461-B488-21CEAC993DD3}"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B020583A-8ADA-49E3-AB01-800277BBB8DF}"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F50F4E0E-1439-453B-B1E8-6FBB07A0A31B}"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EB746B57-5AF7-43CE-A520-D0BAC8CD61E2}" type="slidenum">
              <a:t>&lt;#&gt;</a:t>
            </a:fld>
          </a:p>
        </p:txBody>
      </p:sp>
      <p:sp>
        <p:nvSpPr>
          <p:cNvPr id="11" name="PlaceHolder 10"/>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4038480" y="6356520"/>
            <a:ext cx="4114080" cy="3643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2480" cy="3643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28F16173-0AC0-4814-8B69-528E8CE4E4C0}" type="slidenum">
              <a:rPr b="0" lang="en-US" sz="1200" spc="-1" strike="noStrike">
                <a:solidFill>
                  <a:srgbClr val="8b8b8b"/>
                </a:solidFill>
                <a:latin typeface="Calibri"/>
              </a:rPr>
              <a:t>1</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2480" cy="3643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4038480" y="6356520"/>
            <a:ext cx="4114080" cy="3643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8610480" y="6356520"/>
            <a:ext cx="2742480" cy="3643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BE8C7D0-1E27-40DB-BBD0-14EC65A858B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838080" y="6356520"/>
            <a:ext cx="2742480" cy="3643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hyperlink" Target="https://github.com/Foxman301/ANA500Project" TargetMode="External"/><Relationship Id="rId2"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1523880" y="1122480"/>
            <a:ext cx="9143280" cy="2386800"/>
          </a:xfrm>
          <a:prstGeom prst="rect">
            <a:avLst/>
          </a:prstGeom>
          <a:noFill/>
          <a:ln w="0">
            <a:noFill/>
          </a:ln>
        </p:spPr>
        <p:txBody>
          <a:bodyPr lIns="0" rIns="0" tIns="0" bIns="0" anchor="b">
            <a:normAutofit fontScale="84000"/>
          </a:bodyPr>
          <a:p>
            <a:pPr indent="0" algn="ctr">
              <a:lnSpc>
                <a:spcPct val="90000"/>
              </a:lnSpc>
              <a:buNone/>
              <a:tabLst>
                <a:tab algn="l" pos="0"/>
              </a:tabLst>
            </a:pPr>
            <a:r>
              <a:rPr b="0" lang="en-US" sz="6000" spc="-1" strike="noStrike">
                <a:solidFill>
                  <a:srgbClr val="000000"/>
                </a:solidFill>
                <a:latin typeface="Calibri Light"/>
              </a:rPr>
              <a:t>Electrical grid planning in Morocco</a:t>
            </a:r>
            <a:br>
              <a:rPr sz="6000"/>
            </a:br>
            <a:r>
              <a:rPr b="0" lang="en-US" sz="4800" spc="-1" strike="noStrike">
                <a:solidFill>
                  <a:srgbClr val="000000"/>
                </a:solidFill>
                <a:latin typeface="Calibri Light"/>
              </a:rPr>
              <a:t>Micro-Project 1</a:t>
            </a:r>
            <a:br>
              <a:rPr sz="4800"/>
            </a:br>
            <a:r>
              <a:rPr b="0" lang="en-US" sz="4800" spc="-1" strike="noStrike">
                <a:solidFill>
                  <a:srgbClr val="000000"/>
                </a:solidFill>
                <a:latin typeface="Calibri Light"/>
                <a:hlinkClick r:id="rId1"/>
              </a:rPr>
              <a:t>Repository link</a:t>
            </a:r>
            <a:endParaRPr b="0" lang="en-US" sz="4800" spc="-1" strike="noStrike">
              <a:solidFill>
                <a:srgbClr val="000000"/>
              </a:solidFill>
              <a:latin typeface="Arial"/>
            </a:endParaRPr>
          </a:p>
        </p:txBody>
      </p:sp>
      <p:sp>
        <p:nvSpPr>
          <p:cNvPr id="83" name="PlaceHolder 2"/>
          <p:cNvSpPr>
            <a:spLocks noGrp="1"/>
          </p:cNvSpPr>
          <p:nvPr>
            <p:ph type="subTitle"/>
          </p:nvPr>
        </p:nvSpPr>
        <p:spPr>
          <a:xfrm>
            <a:off x="1523880" y="3602160"/>
            <a:ext cx="9143280" cy="1654920"/>
          </a:xfrm>
          <a:prstGeom prst="rect">
            <a:avLst/>
          </a:prstGeom>
          <a:noFill/>
          <a:ln w="0">
            <a:noFill/>
          </a:ln>
        </p:spPr>
        <p:txBody>
          <a:bodyPr lIns="0" rIns="0" tIns="0" bIns="0" anchor="t">
            <a:noAutofit/>
          </a:bodyPr>
          <a:p>
            <a:pPr indent="0" algn="ctr">
              <a:lnSpc>
                <a:spcPct val="90000"/>
              </a:lnSpc>
              <a:spcBef>
                <a:spcPts val="1001"/>
              </a:spcBef>
              <a:buNone/>
              <a:tabLst>
                <a:tab algn="l" pos="0"/>
              </a:tabLst>
            </a:pPr>
            <a:r>
              <a:rPr b="0" lang="en-US" sz="2400" spc="-1" strike="noStrike">
                <a:solidFill>
                  <a:srgbClr val="000000"/>
                </a:solidFill>
                <a:latin typeface="Calibri"/>
              </a:rPr>
              <a:t>Jonathan Espedal</a:t>
            </a:r>
            <a:endParaRPr b="0" lang="en-US" sz="2400" spc="-1" strike="noStrike">
              <a:solidFill>
                <a:srgbClr val="000000"/>
              </a:solidFill>
              <a:latin typeface="Arial"/>
            </a:endParaRPr>
          </a:p>
          <a:p>
            <a:pPr indent="0" algn="ctr">
              <a:lnSpc>
                <a:spcPct val="90000"/>
              </a:lnSpc>
              <a:spcBef>
                <a:spcPts val="1001"/>
              </a:spcBef>
              <a:buNone/>
              <a:tabLst>
                <a:tab algn="l" pos="0"/>
              </a:tabLst>
            </a:pPr>
            <a:r>
              <a:rPr b="0" lang="en-US" sz="2400" spc="-1" strike="noStrike">
                <a:solidFill>
                  <a:srgbClr val="000000"/>
                </a:solidFill>
                <a:latin typeface="Calibri"/>
              </a:rPr>
              <a:t>20 SEP 2026</a:t>
            </a:r>
            <a:endParaRPr b="0" lang="en-US" sz="2400" spc="-1" strike="noStrike">
              <a:solidFill>
                <a:srgbClr val="000000"/>
              </a:solidFill>
              <a:latin typeface="Arial"/>
            </a:endParaRPr>
          </a:p>
          <a:p>
            <a:pPr indent="0" algn="ctr">
              <a:lnSpc>
                <a:spcPct val="90000"/>
              </a:lnSpc>
              <a:spcBef>
                <a:spcPts val="1001"/>
              </a:spcBef>
              <a:buNone/>
              <a:tabLst>
                <a:tab algn="l" pos="0"/>
              </a:tabLst>
            </a:pP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Problem Statement</a:t>
            </a:r>
            <a:endParaRPr b="0" lang="en-US" sz="4400" spc="-1" strike="noStrike">
              <a:solidFill>
                <a:srgbClr val="000000"/>
              </a:solidFill>
              <a:latin typeface="Arial"/>
            </a:endParaRPr>
          </a:p>
        </p:txBody>
      </p:sp>
      <p:sp>
        <p:nvSpPr>
          <p:cNvPr id="85"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indent="0">
              <a:lnSpc>
                <a:spcPct val="90000"/>
              </a:lnSpc>
              <a:spcBef>
                <a:spcPts val="1001"/>
              </a:spcBef>
              <a:buNone/>
            </a:pPr>
            <a:r>
              <a:rPr b="0" lang="en-US" sz="1800" spc="-1" strike="noStrike">
                <a:solidFill>
                  <a:srgbClr val="000000"/>
                </a:solidFill>
                <a:latin typeface="Times New Roman"/>
                <a:ea typeface="Times New Roman"/>
              </a:rPr>
              <a:t>Understanding how and when peak electricity demand occurs across different Moroccan regions is important for infrastructure planning, but existing analyses rarely compare high-resolution, city-level consumption data side by side.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Hypothesis Formulation</a:t>
            </a:r>
            <a:endParaRPr b="0" lang="en-US" sz="4400" spc="-1" strike="noStrike">
              <a:solidFill>
                <a:srgbClr val="000000"/>
              </a:solidFill>
              <a:latin typeface="Arial"/>
            </a:endParaRPr>
          </a:p>
        </p:txBody>
      </p:sp>
      <p:sp>
        <p:nvSpPr>
          <p:cNvPr id="87"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indent="0">
              <a:lnSpc>
                <a:spcPct val="90000"/>
              </a:lnSpc>
              <a:spcBef>
                <a:spcPts val="1001"/>
              </a:spcBef>
              <a:buNone/>
            </a:pPr>
            <a:r>
              <a:rPr b="0" lang="en-US" sz="1800" spc="-1" strike="noStrike">
                <a:solidFill>
                  <a:srgbClr val="000000"/>
                </a:solidFill>
                <a:latin typeface="Times New Roman"/>
                <a:ea typeface="Times New Roman"/>
              </a:rPr>
              <a:t>Peak load timing and intensity will vary significantly between cities/zones (e.g., Marrakech vs. the Laâyoune-area cities), and this variation will correlate with time-of-year, suggesting different infrastructure or policy responses may be needed by region.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Acquire</a:t>
            </a:r>
            <a:endParaRPr b="0" lang="en-US" sz="4400" spc="-1" strike="noStrike">
              <a:solidFill>
                <a:srgbClr val="000000"/>
              </a:solidFill>
              <a:latin typeface="Arial"/>
            </a:endParaRPr>
          </a:p>
        </p:txBody>
      </p:sp>
      <p:sp>
        <p:nvSpPr>
          <p:cNvPr id="89"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marL="228600" indent="0">
              <a:lnSpc>
                <a:spcPct val="90000"/>
              </a:lnSpc>
              <a:spcBef>
                <a:spcPts val="1001"/>
              </a:spcBef>
              <a:buNone/>
            </a:pPr>
            <a:r>
              <a:rPr b="0" lang="en-US" sz="1800" spc="-1" strike="noStrike">
                <a:solidFill>
                  <a:srgbClr val="000000"/>
                </a:solidFill>
                <a:latin typeface="Times New Roman"/>
                <a:ea typeface="Times New Roman"/>
              </a:rPr>
              <a:t>Looked through the datasets offered by the course, none of them seemed interesting and all were rather basic. Again, I went to UCI to see what they had and looked for the most recently added. The selected dataset piqued my interest as it was utility services, just electricity rather than water.</a:t>
            </a:r>
            <a:endParaRPr b="0" lang="en-US" sz="1800" spc="-1" strike="noStrike">
              <a:solidFill>
                <a:srgbClr val="000000"/>
              </a:solidFill>
              <a:latin typeface="Arial"/>
            </a:endParaRPr>
          </a:p>
          <a:p>
            <a:pPr marL="228600" indent="0">
              <a:lnSpc>
                <a:spcPct val="90000"/>
              </a:lnSpc>
              <a:spcBef>
                <a:spcPts val="1001"/>
              </a:spcBef>
              <a:buNone/>
            </a:pPr>
            <a:endParaRPr b="0" lang="en-US" sz="1800" spc="-1" strike="noStrike">
              <a:solidFill>
                <a:srgbClr val="000000"/>
              </a:solidFill>
              <a:latin typeface="Arial"/>
            </a:endParaRPr>
          </a:p>
          <a:p>
            <a:pPr marL="228600" indent="0">
              <a:lnSpc>
                <a:spcPct val="90000"/>
              </a:lnSpc>
              <a:spcBef>
                <a:spcPts val="1001"/>
              </a:spcBef>
              <a:buNone/>
            </a:pPr>
            <a:endParaRPr b="0" lang="en-US" sz="1800" spc="-1" strike="noStrike">
              <a:solidFill>
                <a:srgbClr val="000000"/>
              </a:solidFill>
              <a:latin typeface="Arial"/>
            </a:endParaRPr>
          </a:p>
          <a:p>
            <a:pPr marL="228600" indent="0">
              <a:lnSpc>
                <a:spcPct val="90000"/>
              </a:lnSpc>
              <a:spcBef>
                <a:spcPts val="1001"/>
              </a:spcBef>
              <a:buNone/>
            </a:pPr>
            <a:r>
              <a:rPr b="0" lang="en-US" sz="1800" spc="-1" strike="noStrike">
                <a:solidFill>
                  <a:srgbClr val="000000"/>
                </a:solidFill>
                <a:latin typeface="Times New Roman"/>
                <a:ea typeface="Times New Roman"/>
              </a:rPr>
              <a:t>Reference:</a:t>
            </a:r>
            <a:endParaRPr b="0" lang="en-US" sz="1800" spc="-1" strike="noStrike">
              <a:solidFill>
                <a:srgbClr val="000000"/>
              </a:solidFill>
              <a:latin typeface="Arial"/>
            </a:endParaRPr>
          </a:p>
          <a:p>
            <a:pPr indent="0">
              <a:lnSpc>
                <a:spcPct val="90000"/>
              </a:lnSpc>
              <a:spcBef>
                <a:spcPts val="1001"/>
              </a:spcBef>
              <a:buNone/>
            </a:pPr>
            <a:r>
              <a:rPr b="0" lang="en-US" sz="1800" spc="-1" strike="noStrike">
                <a:solidFill>
                  <a:srgbClr val="000000"/>
                </a:solidFill>
                <a:latin typeface="Times New Roman"/>
                <a:ea typeface="Times New Roman"/>
              </a:rPr>
              <a:t>Bensalah, M. &amp; Hair, A. (2025). High-Resolution Load Dataset from Smart Meters Across Various Cities in Morocco [Dataset]. UCI Machine Learning Repository. https://doi.org/10.24432/C5FC8R.</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Prepare</a:t>
            </a:r>
            <a:endParaRPr b="0" lang="en-US" sz="4400" spc="-1" strike="noStrike">
              <a:solidFill>
                <a:srgbClr val="000000"/>
              </a:solidFill>
              <a:latin typeface="Arial"/>
            </a:endParaRPr>
          </a:p>
        </p:txBody>
      </p:sp>
      <p:sp>
        <p:nvSpPr>
          <p:cNvPr id="91"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marL="228600" indent="-228600">
              <a:lnSpc>
                <a:spcPct val="90000"/>
              </a:lnSpc>
              <a:spcBef>
                <a:spcPts val="1001"/>
              </a:spcBef>
              <a:buClr>
                <a:srgbClr val="000000"/>
              </a:buClr>
              <a:buFont typeface="Arial"/>
              <a:buChar char="•"/>
            </a:pPr>
            <a:r>
              <a:rPr b="0" lang="en-US" sz="1800" spc="-1" strike="noStrike">
                <a:solidFill>
                  <a:srgbClr val="000000"/>
                </a:solidFill>
                <a:latin typeface="Times New Roman"/>
                <a:ea typeface="Times New Roman"/>
              </a:rPr>
              <a:t>Merged the four city sheets from the provided .xlsx on DateTime after sorting each index (Marrakech was not sorted on DateTime) and removing duplicate timestamps.</a:t>
            </a:r>
            <a:endParaRPr b="0" lang="en-US" sz="1800" spc="-1" strike="noStrike">
              <a:solidFill>
                <a:srgbClr val="000000"/>
              </a:solidFill>
              <a:latin typeface="Arial"/>
            </a:endParaRPr>
          </a:p>
          <a:p>
            <a:pPr marL="228600" indent="-228600">
              <a:lnSpc>
                <a:spcPct val="90000"/>
              </a:lnSpc>
              <a:spcBef>
                <a:spcPts val="1001"/>
              </a:spcBef>
              <a:buClr>
                <a:srgbClr val="000000"/>
              </a:buClr>
              <a:buFont typeface="Arial"/>
              <a:buChar char="•"/>
            </a:pPr>
            <a:r>
              <a:rPr b="0" lang="en-US" sz="1800" spc="-1" strike="noStrike">
                <a:solidFill>
                  <a:srgbClr val="000000"/>
                </a:solidFill>
                <a:latin typeface="Times New Roman"/>
                <a:ea typeface="Times New Roman"/>
              </a:rPr>
              <a:t>Standardized time resolution: resampled the other 3 cities from 10-minute to Marrakech’s 30-minute interval so all four cities align on the same timestamp grid.</a:t>
            </a:r>
            <a:endParaRPr b="0" lang="en-US" sz="1800" spc="-1" strike="noStrike">
              <a:solidFill>
                <a:srgbClr val="000000"/>
              </a:solidFill>
              <a:latin typeface="Arial"/>
            </a:endParaRPr>
          </a:p>
          <a:p>
            <a:pPr marL="228600" indent="-228600">
              <a:lnSpc>
                <a:spcPct val="90000"/>
              </a:lnSpc>
              <a:spcBef>
                <a:spcPts val="1001"/>
              </a:spcBef>
              <a:buClr>
                <a:srgbClr val="000000"/>
              </a:buClr>
              <a:buFont typeface="Symbol" charset="2"/>
              <a:buChar char=""/>
            </a:pPr>
            <a:r>
              <a:rPr b="0" lang="en-US" sz="1800" spc="-1" strike="noStrike">
                <a:solidFill>
                  <a:srgbClr val="000000"/>
                </a:solidFill>
                <a:latin typeface="Times New Roman"/>
                <a:ea typeface="Times New Roman"/>
              </a:rPr>
              <a:t>Identified a units mismatch: </a:t>
            </a:r>
            <a:r>
              <a:rPr b="0" lang="en-US" sz="1800" spc="-1" strike="noStrike">
                <a:solidFill>
                  <a:srgbClr val="000000"/>
                </a:solidFill>
                <a:latin typeface="Times New Roman"/>
                <a:ea typeface="Times New Roman"/>
              </a:rPr>
              <a:t>Laâyoune, Boujdour, and Foum Eloued are recorded in Amperes, while Marrakech is recorded in Kilowatts. This will be a known limitation for a direct cross-city magnitude comparison unless we do a unit conversion per row.</a:t>
            </a:r>
            <a:endParaRPr b="0" lang="en-US" sz="1800" spc="-1" strike="noStrike">
              <a:solidFill>
                <a:srgbClr val="000000"/>
              </a:solidFill>
              <a:latin typeface="Arial"/>
            </a:endParaRPr>
          </a:p>
          <a:p>
            <a:pPr marL="228600" indent="-228600">
              <a:lnSpc>
                <a:spcPct val="90000"/>
              </a:lnSpc>
              <a:spcBef>
                <a:spcPts val="1001"/>
              </a:spcBef>
              <a:buClr>
                <a:srgbClr val="000000"/>
              </a:buClr>
              <a:buFont typeface="Symbol" charset="2"/>
              <a:buChar char=""/>
            </a:pPr>
            <a:r>
              <a:rPr b="0" lang="en-US" sz="1800" spc="-1" strike="noStrike">
                <a:solidFill>
                  <a:srgbClr val="000000"/>
                </a:solidFill>
                <a:latin typeface="Times New Roman"/>
                <a:ea typeface="Times New Roman"/>
              </a:rPr>
              <a:t>There is a coverage gap. Marrakech data spans Jan 2023 – Jan 2024, which is less overall time than the Sep 2022 – May 2024 range for the other three cities. This will produce NaNs outside that window after the outer join.</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Analyze data</a:t>
            </a:r>
            <a:endParaRPr b="0" lang="en-US" sz="4400" spc="-1" strike="noStrike">
              <a:solidFill>
                <a:srgbClr val="000000"/>
              </a:solidFill>
              <a:latin typeface="Arial"/>
            </a:endParaRPr>
          </a:p>
        </p:txBody>
      </p:sp>
      <p:sp>
        <p:nvSpPr>
          <p:cNvPr id="93"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marL="228600" indent="-228600">
              <a:lnSpc>
                <a:spcPct val="90000"/>
              </a:lnSpc>
              <a:spcBef>
                <a:spcPts val="1001"/>
              </a:spcBef>
              <a:buClr>
                <a:srgbClr val="000000"/>
              </a:buClr>
              <a:buFont typeface="Arial"/>
              <a:buChar char="•"/>
            </a:pPr>
            <a:r>
              <a:rPr b="0" lang="en-US" sz="1800" spc="-1" strike="noStrike">
                <a:solidFill>
                  <a:srgbClr val="000000"/>
                </a:solidFill>
                <a:latin typeface="Times New Roman"/>
                <a:ea typeface="Times New Roman"/>
              </a:rPr>
              <a:t>&lt;select analytical technique, build models&gt;</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Report</a:t>
            </a:r>
            <a:endParaRPr b="0" lang="en-US" sz="4400" spc="-1" strike="noStrike">
              <a:solidFill>
                <a:srgbClr val="000000"/>
              </a:solidFill>
              <a:latin typeface="Arial"/>
            </a:endParaRPr>
          </a:p>
        </p:txBody>
      </p:sp>
      <p:sp>
        <p:nvSpPr>
          <p:cNvPr id="95"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marL="228600" indent="-228600">
              <a:lnSpc>
                <a:spcPct val="90000"/>
              </a:lnSpc>
              <a:spcBef>
                <a:spcPts val="1001"/>
              </a:spcBef>
              <a:buClr>
                <a:srgbClr val="000000"/>
              </a:buClr>
              <a:buFont typeface="Arial"/>
              <a:buChar char="•"/>
            </a:pPr>
            <a:r>
              <a:rPr b="0" lang="en-US" sz="1800" spc="-1" strike="noStrike">
                <a:solidFill>
                  <a:srgbClr val="000000"/>
                </a:solidFill>
                <a:latin typeface="Times New Roman"/>
                <a:ea typeface="Times New Roman"/>
              </a:rPr>
              <a:t>&lt;communicate results&gt;</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880" cy="13248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Act</a:t>
            </a:r>
            <a:endParaRPr b="0" lang="en-US" sz="4400" spc="-1" strike="noStrike">
              <a:solidFill>
                <a:srgbClr val="000000"/>
              </a:solidFill>
              <a:latin typeface="Arial"/>
            </a:endParaRPr>
          </a:p>
        </p:txBody>
      </p:sp>
      <p:sp>
        <p:nvSpPr>
          <p:cNvPr id="97" name="PlaceHolder 2"/>
          <p:cNvSpPr>
            <a:spLocks noGrp="1"/>
          </p:cNvSpPr>
          <p:nvPr>
            <p:ph/>
          </p:nvPr>
        </p:nvSpPr>
        <p:spPr>
          <a:xfrm>
            <a:off x="838080" y="1825560"/>
            <a:ext cx="10514880" cy="4350600"/>
          </a:xfrm>
          <a:prstGeom prst="rect">
            <a:avLst/>
          </a:prstGeom>
          <a:noFill/>
          <a:ln w="0">
            <a:noFill/>
          </a:ln>
        </p:spPr>
        <p:txBody>
          <a:bodyPr lIns="90000" rIns="90000" tIns="45000" bIns="45000" anchor="t">
            <a:noAutofit/>
          </a:bodyPr>
          <a:p>
            <a:pPr marL="228600" indent="-228600">
              <a:lnSpc>
                <a:spcPct val="90000"/>
              </a:lnSpc>
              <a:spcBef>
                <a:spcPts val="1001"/>
              </a:spcBef>
              <a:buClr>
                <a:srgbClr val="000000"/>
              </a:buClr>
              <a:buFont typeface="Arial"/>
              <a:buChar char="•"/>
            </a:pPr>
            <a:r>
              <a:rPr b="0" lang="en-US" sz="1800" spc="-1" strike="noStrike">
                <a:solidFill>
                  <a:srgbClr val="000000"/>
                </a:solidFill>
                <a:latin typeface="Times New Roman"/>
                <a:ea typeface="Times New Roman"/>
              </a:rPr>
              <a:t>&lt;apply results, connect results with the chosen problem statement or business question&gt;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126</TotalTime>
  <Application>LibreOffice/7.4.4.2$Windows_X86_64 LibreOffice_project/85569322deea74ec9134968a29af2df5663baa21</Application>
  <AppVersion>15.0000</AppVersion>
  <Words>96</Words>
  <Paragraphs>17</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2022-03-01T22:05:03Z</dcterms:created>
  <dc:creator>Emmanuel J Rodriguez</dc:creator>
  <dc:description/>
  <dc:language>en-US</dc:language>
  <cp:lastModifiedBy/>
  <dcterms:modified xsi:type="dcterms:W3CDTF">2026-09-20T21:55:47Z</dcterms:modified>
  <cp:revision>6</cp:revision>
  <dc:subject/>
  <dc:title>&lt;Project Title&gt; &lt;Micro-Project #&gt;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8</vt:i4>
  </property>
</Properties>
</file>