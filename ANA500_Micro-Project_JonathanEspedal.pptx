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80E18ED1-97FE-45B5-9AC0-8356A53E7217}"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95656A9-BB21-472F-BCC9-546166CDA8DE}"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263EB3E-B803-4344-807E-0E42CE0C62E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308049AA-27E1-41D9-826A-9C9ACA2A5BBA}"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CF5E417D-9010-4139-9C4A-6A1EA1F7A4CA}"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B743A469-216E-46F2-9042-2B01550D188C}"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3729138-5B23-472F-BA6C-DB3732F2307E}"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579A7F3-AA1A-4B29-9AC1-A7E8A8D4D251}"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942990A-D0FC-4BAC-8FDC-F86E26119487}"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D0CCADE9-9755-416B-8878-1C041FDF8DB0}"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46F2ECD1-7515-43C9-9BB4-4D2004DB3C56}"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75931E5A-8A16-4E24-B589-009D512B8DBD}"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480282D0-02EA-4183-8AD3-FF886C80340E}"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35129AE2-D8C6-47E4-85BD-71B559DDE0CD}"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96E69EA4-9C74-4CC1-A94F-2832086379AC}"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48791F88-4078-42DA-8BDA-7F0794F7DB97}"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F9A49AD5-DD21-4AA8-AADD-8FDB0E116CB6}"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2530AE78-6900-425F-9826-68EEC782AB0F}"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05C1CDF0-D9D3-4677-8673-4EF6A74DD650}"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4D0C16BD-4768-4111-B907-EF2E67F75EFE}"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61F842B2-A2D5-4A74-B534-562CF6D1BA97}"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792679CF-918D-4A9D-AE1B-B1E277AEDEC6}"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E5290F66-D155-4850-980C-8CD9CB08CB20}"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12325492-6517-46C0-B470-929E4AF2BE10}" type="slidenum">
              <a:t>&lt;#&gt;</a:t>
            </a:fld>
          </a:p>
        </p:txBody>
      </p:sp>
      <p:sp>
        <p:nvSpPr>
          <p:cNvPr id="11" name="PlaceHolder 10"/>
          <p:cNvSpPr>
            <a:spLocks noGrp="1"/>
          </p:cNvSpPr>
          <p:nvPr>
            <p:ph type="dt" idx="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4038480" y="6356520"/>
            <a:ext cx="4113000" cy="36324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1" name="PlaceHolder 2"/>
          <p:cNvSpPr>
            <a:spLocks noGrp="1"/>
          </p:cNvSpPr>
          <p:nvPr>
            <p:ph type="sldNum" idx="2"/>
          </p:nvPr>
        </p:nvSpPr>
        <p:spPr>
          <a:xfrm>
            <a:off x="8610480" y="6356520"/>
            <a:ext cx="2741400" cy="36324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17DC3E5E-32C2-45CB-B1B3-27A840FBE6BC}" type="slidenum">
              <a:rPr b="0" lang="en-US" sz="1200" spc="-1" strike="noStrike">
                <a:solidFill>
                  <a:srgbClr val="8b8b8b"/>
                </a:solidFill>
                <a:latin typeface="Calibri"/>
              </a:rPr>
              <a:t>9</a:t>
            </a:fld>
            <a:endParaRPr b="0" lang="en-US" sz="1200" spc="-1" strike="noStrike">
              <a:solidFill>
                <a:srgbClr val="000000"/>
              </a:solidFill>
              <a:latin typeface="Times New Roman"/>
            </a:endParaRPr>
          </a:p>
        </p:txBody>
      </p:sp>
      <p:sp>
        <p:nvSpPr>
          <p:cNvPr id="2" name="PlaceHolder 3"/>
          <p:cNvSpPr>
            <a:spLocks noGrp="1"/>
          </p:cNvSpPr>
          <p:nvPr>
            <p:ph type="dt" idx="3"/>
          </p:nvPr>
        </p:nvSpPr>
        <p:spPr>
          <a:xfrm>
            <a:off x="838080" y="6356520"/>
            <a:ext cx="2741400" cy="363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4038480" y="6356520"/>
            <a:ext cx="4113000" cy="36324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 name="PlaceHolder 2"/>
          <p:cNvSpPr>
            <a:spLocks noGrp="1"/>
          </p:cNvSpPr>
          <p:nvPr>
            <p:ph type="sldNum" idx="5"/>
          </p:nvPr>
        </p:nvSpPr>
        <p:spPr>
          <a:xfrm>
            <a:off x="8610480" y="6356520"/>
            <a:ext cx="2741400" cy="36324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5D2AF725-540C-4642-B471-08C9F2D4D32B}"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43" name="PlaceHolder 3"/>
          <p:cNvSpPr>
            <a:spLocks noGrp="1"/>
          </p:cNvSpPr>
          <p:nvPr>
            <p:ph type="dt" idx="6"/>
          </p:nvPr>
        </p:nvSpPr>
        <p:spPr>
          <a:xfrm>
            <a:off x="838080" y="6356520"/>
            <a:ext cx="2741400" cy="363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4"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hyperlink" Target="https://github.com/Foxman301/ANA500Project" TargetMode="External"/><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523880" y="1122480"/>
            <a:ext cx="9142200" cy="2385720"/>
          </a:xfrm>
          <a:prstGeom prst="rect">
            <a:avLst/>
          </a:prstGeom>
          <a:noFill/>
          <a:ln w="0">
            <a:noFill/>
          </a:ln>
        </p:spPr>
        <p:txBody>
          <a:bodyPr lIns="0" rIns="0" tIns="0" bIns="0" anchor="b">
            <a:normAutofit fontScale="84000"/>
          </a:bodyPr>
          <a:p>
            <a:pPr indent="0" algn="ctr">
              <a:lnSpc>
                <a:spcPct val="90000"/>
              </a:lnSpc>
              <a:buNone/>
              <a:tabLst>
                <a:tab algn="l" pos="0"/>
              </a:tabLst>
            </a:pPr>
            <a:r>
              <a:rPr b="0" lang="en-US" sz="6000" spc="-1" strike="noStrike">
                <a:solidFill>
                  <a:srgbClr val="000000"/>
                </a:solidFill>
                <a:latin typeface="Calibri Light"/>
              </a:rPr>
              <a:t>Electrical grid planning in Morocco</a:t>
            </a:r>
            <a:br>
              <a:rPr sz="6000"/>
            </a:br>
            <a:r>
              <a:rPr b="0" lang="en-US" sz="4800" spc="-1" strike="noStrike">
                <a:solidFill>
                  <a:srgbClr val="000000"/>
                </a:solidFill>
                <a:latin typeface="Calibri Light"/>
              </a:rPr>
              <a:t>Micro-Project 1</a:t>
            </a:r>
            <a:br>
              <a:rPr sz="4800"/>
            </a:br>
            <a:r>
              <a:rPr b="0" lang="en-US" sz="4800" spc="-1" strike="noStrike" u="sng">
                <a:solidFill>
                  <a:srgbClr val="0563c1"/>
                </a:solidFill>
                <a:uFillTx/>
                <a:latin typeface="Calibri Light"/>
                <a:hlinkClick r:id="rId1"/>
              </a:rPr>
              <a:t>Repository link</a:t>
            </a:r>
            <a:endParaRPr b="0" lang="en-US" sz="4800" spc="-1" strike="noStrike">
              <a:solidFill>
                <a:srgbClr val="000000"/>
              </a:solidFill>
              <a:latin typeface="Arial"/>
            </a:endParaRPr>
          </a:p>
        </p:txBody>
      </p:sp>
      <p:sp>
        <p:nvSpPr>
          <p:cNvPr id="83" name="PlaceHolder 2"/>
          <p:cNvSpPr>
            <a:spLocks noGrp="1"/>
          </p:cNvSpPr>
          <p:nvPr>
            <p:ph type="subTitle"/>
          </p:nvPr>
        </p:nvSpPr>
        <p:spPr>
          <a:xfrm>
            <a:off x="1523880" y="3602160"/>
            <a:ext cx="9142200" cy="1653840"/>
          </a:xfrm>
          <a:prstGeom prst="rect">
            <a:avLst/>
          </a:prstGeom>
          <a:noFill/>
          <a:ln w="0">
            <a:noFill/>
          </a:ln>
        </p:spPr>
        <p:txBody>
          <a:bodyPr lIns="0" rIns="0" tIns="0" bIns="0" anchor="t">
            <a:noAutofit/>
          </a:bodyPr>
          <a:p>
            <a:pPr indent="0" algn="ctr">
              <a:lnSpc>
                <a:spcPct val="90000"/>
              </a:lnSpc>
              <a:spcBef>
                <a:spcPts val="1001"/>
              </a:spcBef>
              <a:buNone/>
              <a:tabLst>
                <a:tab algn="l" pos="0"/>
              </a:tabLst>
            </a:pPr>
            <a:r>
              <a:rPr b="0" lang="en-US" sz="2400" spc="-1" strike="noStrike">
                <a:solidFill>
                  <a:srgbClr val="000000"/>
                </a:solidFill>
                <a:latin typeface="Calibri"/>
              </a:rPr>
              <a:t>Jonathan Espedal</a:t>
            </a:r>
            <a:endParaRPr b="0" lang="en-US" sz="2400" spc="-1" strike="noStrike">
              <a:solidFill>
                <a:srgbClr val="000000"/>
              </a:solidFill>
              <a:latin typeface="Arial"/>
            </a:endParaRPr>
          </a:p>
          <a:p>
            <a:pPr indent="0" algn="ctr">
              <a:lnSpc>
                <a:spcPct val="90000"/>
              </a:lnSpc>
              <a:spcBef>
                <a:spcPts val="1001"/>
              </a:spcBef>
              <a:buNone/>
              <a:tabLst>
                <a:tab algn="l" pos="0"/>
              </a:tabLst>
            </a:pPr>
            <a:r>
              <a:rPr b="0" lang="en-US" sz="2400" spc="-1" strike="noStrike">
                <a:solidFill>
                  <a:srgbClr val="000000"/>
                </a:solidFill>
                <a:latin typeface="Calibri"/>
              </a:rPr>
              <a:t>04 OCT 2026</a:t>
            </a:r>
            <a:endParaRPr b="0" lang="en-US" sz="2400" spc="-1" strike="noStrike">
              <a:solidFill>
                <a:srgbClr val="000000"/>
              </a:solidFill>
              <a:latin typeface="Arial"/>
            </a:endParaRPr>
          </a:p>
          <a:p>
            <a:pPr indent="0" algn="ctr">
              <a:lnSpc>
                <a:spcPct val="90000"/>
              </a:lnSpc>
              <a:spcBef>
                <a:spcPts val="1001"/>
              </a:spcBef>
              <a:buNone/>
              <a:tabLst>
                <a:tab algn="l" pos="0"/>
              </a:tabLst>
            </a:pP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3800" cy="1323720"/>
          </a:xfrm>
          <a:prstGeom prst="rect">
            <a:avLst/>
          </a:prstGeom>
          <a:noFill/>
          <a:ln w="0">
            <a:noFill/>
          </a:ln>
        </p:spPr>
        <p:txBody>
          <a:bodyPr lIns="90000" rIns="90000" tIns="45000" bIns="45000" anchor="ctr">
            <a:noAutofit/>
          </a:bodyPr>
          <a:p>
            <a:pPr indent="0">
              <a:lnSpc>
                <a:spcPct val="90000"/>
              </a:lnSpc>
              <a:buNone/>
              <a:tabLst>
                <a:tab algn="l" pos="0"/>
              </a:tabLst>
            </a:pPr>
            <a:r>
              <a:rPr b="0" lang="en-US" sz="4400" spc="-1" strike="noStrike">
                <a:solidFill>
                  <a:srgbClr val="000000"/>
                </a:solidFill>
                <a:latin typeface="Calibri Light"/>
              </a:rPr>
              <a:t>Problem Statement</a:t>
            </a:r>
            <a:endParaRPr b="0" lang="en-US" sz="4400" spc="-1" strike="noStrike">
              <a:solidFill>
                <a:srgbClr val="000000"/>
              </a:solidFill>
              <a:latin typeface="Arial"/>
            </a:endParaRPr>
          </a:p>
        </p:txBody>
      </p:sp>
      <p:sp>
        <p:nvSpPr>
          <p:cNvPr id="85" name="PlaceHolder 2"/>
          <p:cNvSpPr>
            <a:spLocks noGrp="1"/>
          </p:cNvSpPr>
          <p:nvPr>
            <p:ph/>
          </p:nvPr>
        </p:nvSpPr>
        <p:spPr>
          <a:xfrm>
            <a:off x="838080" y="1825560"/>
            <a:ext cx="10513800" cy="43495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0" lang="en-US" sz="1800" spc="-1" strike="noStrike">
                <a:solidFill>
                  <a:srgbClr val="000000"/>
                </a:solidFill>
                <a:latin typeface="Times New Roman"/>
                <a:ea typeface="Times New Roman"/>
              </a:rPr>
              <a:t>This project analyzes high-resolution smart meter data from four Moroccan cities (Laâyoune, Boujdour, Foum Eloued, and Marrakech) to classify electricity load readings as peak-demand or normal-demand periods. Because Laâyoune, Boujdour, and Foum Eloued are metered in Amperes while Marrakech is metered in Kilowatts, load values will be converted to a common unit using a standard voltage assumption before peak-demand magnitude is compared across cities. The goal is to identify when, how often, and how intensely peak-demand periods occur in each region, to inform infrastructure and demand-response planning.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3800" cy="1323720"/>
          </a:xfrm>
          <a:prstGeom prst="rect">
            <a:avLst/>
          </a:prstGeom>
          <a:noFill/>
          <a:ln w="0">
            <a:noFill/>
          </a:ln>
        </p:spPr>
        <p:txBody>
          <a:bodyPr lIns="90000" rIns="90000" tIns="45000" bIns="45000" anchor="ctr">
            <a:noAutofit/>
          </a:bodyPr>
          <a:p>
            <a:pPr indent="0">
              <a:lnSpc>
                <a:spcPct val="90000"/>
              </a:lnSpc>
              <a:buNone/>
              <a:tabLst>
                <a:tab algn="l" pos="0"/>
              </a:tabLst>
            </a:pPr>
            <a:r>
              <a:rPr b="0" lang="en-US" sz="4400" spc="-1" strike="noStrike">
                <a:solidFill>
                  <a:srgbClr val="000000"/>
                </a:solidFill>
                <a:latin typeface="Calibri Light"/>
              </a:rPr>
              <a:t>Hypothesis Formulation</a:t>
            </a:r>
            <a:endParaRPr b="0" lang="en-US" sz="4400" spc="-1" strike="noStrike">
              <a:solidFill>
                <a:srgbClr val="000000"/>
              </a:solidFill>
              <a:latin typeface="Arial"/>
            </a:endParaRPr>
          </a:p>
        </p:txBody>
      </p:sp>
      <p:sp>
        <p:nvSpPr>
          <p:cNvPr id="87" name="PlaceHolder 2"/>
          <p:cNvSpPr>
            <a:spLocks noGrp="1"/>
          </p:cNvSpPr>
          <p:nvPr>
            <p:ph/>
          </p:nvPr>
        </p:nvSpPr>
        <p:spPr>
          <a:xfrm>
            <a:off x="838080" y="1825560"/>
            <a:ext cx="10513800" cy="43495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0" lang="en-US" sz="1800" spc="-1" strike="noStrike">
                <a:solidFill>
                  <a:srgbClr val="000000"/>
                </a:solidFill>
                <a:latin typeface="Times New Roman"/>
                <a:ea typeface="Times New Roman"/>
              </a:rPr>
              <a:t>After converting all readings to a common unit (kW) and defining peak demand as load exceeding the 90th percentile of each city's own distribution, the timing, frequency, and relative intensity of peak-demand periods will differ significantly across cities/zones, and these differences will correlate with season and zone type (domestic vs. industrial) rather than occurring uniformly across regions.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3800" cy="1323720"/>
          </a:xfrm>
          <a:prstGeom prst="rect">
            <a:avLst/>
          </a:prstGeom>
          <a:noFill/>
          <a:ln w="0">
            <a:noFill/>
          </a:ln>
        </p:spPr>
        <p:txBody>
          <a:bodyPr lIns="90000" rIns="90000" tIns="45000" bIns="45000" anchor="ctr">
            <a:noAutofit/>
          </a:bodyPr>
          <a:p>
            <a:pPr indent="0">
              <a:lnSpc>
                <a:spcPct val="90000"/>
              </a:lnSpc>
              <a:buNone/>
              <a:tabLst>
                <a:tab algn="l" pos="0"/>
              </a:tabLst>
            </a:pPr>
            <a:r>
              <a:rPr b="0" lang="en-US" sz="4400" spc="-1" strike="noStrike">
                <a:solidFill>
                  <a:srgbClr val="000000"/>
                </a:solidFill>
                <a:latin typeface="Calibri Light"/>
              </a:rPr>
              <a:t>Acquire</a:t>
            </a:r>
            <a:endParaRPr b="0" lang="en-US" sz="4400" spc="-1" strike="noStrike">
              <a:solidFill>
                <a:srgbClr val="000000"/>
              </a:solidFill>
              <a:latin typeface="Arial"/>
            </a:endParaRPr>
          </a:p>
        </p:txBody>
      </p:sp>
      <p:sp>
        <p:nvSpPr>
          <p:cNvPr id="89" name="PlaceHolder 2"/>
          <p:cNvSpPr>
            <a:spLocks noGrp="1"/>
          </p:cNvSpPr>
          <p:nvPr>
            <p:ph/>
          </p:nvPr>
        </p:nvSpPr>
        <p:spPr>
          <a:xfrm>
            <a:off x="838080" y="1825560"/>
            <a:ext cx="10513800" cy="4349520"/>
          </a:xfrm>
          <a:prstGeom prst="rect">
            <a:avLst/>
          </a:prstGeom>
          <a:noFill/>
          <a:ln w="0">
            <a:noFill/>
          </a:ln>
        </p:spPr>
        <p:txBody>
          <a:bodyPr lIns="90000" rIns="90000" tIns="45000" bIns="45000" anchor="t">
            <a:noAutofit/>
          </a:bodyPr>
          <a:p>
            <a:pPr marL="228600" indent="0">
              <a:lnSpc>
                <a:spcPct val="90000"/>
              </a:lnSpc>
              <a:spcBef>
                <a:spcPts val="1001"/>
              </a:spcBef>
              <a:buNone/>
              <a:tabLst>
                <a:tab algn="l" pos="0"/>
              </a:tabLst>
            </a:pPr>
            <a:r>
              <a:rPr b="0" lang="en-US" sz="1800" spc="-1" strike="noStrike">
                <a:solidFill>
                  <a:srgbClr val="000000"/>
                </a:solidFill>
                <a:latin typeface="Times New Roman"/>
                <a:ea typeface="Times New Roman"/>
              </a:rPr>
              <a:t>Looked through the datasets offered by the course, none of them seemed interesting and all were rather basic. Again, I went to UCI to see what they had and looked for the most recently added. The selected dataset piqued my interest as it was utility services, just electricity rather than water.</a:t>
            </a:r>
            <a:endParaRPr b="0" lang="en-US" sz="1800" spc="-1" strike="noStrike">
              <a:solidFill>
                <a:srgbClr val="000000"/>
              </a:solidFill>
              <a:latin typeface="Arial"/>
            </a:endParaRPr>
          </a:p>
          <a:p>
            <a:pPr marL="228600" indent="0">
              <a:lnSpc>
                <a:spcPct val="90000"/>
              </a:lnSpc>
              <a:spcBef>
                <a:spcPts val="1001"/>
              </a:spcBef>
              <a:buNone/>
              <a:tabLst>
                <a:tab algn="l" pos="0"/>
              </a:tabLst>
            </a:pPr>
            <a:endParaRPr b="0" lang="en-US" sz="1800" spc="-1" strike="noStrike">
              <a:solidFill>
                <a:srgbClr val="000000"/>
              </a:solidFill>
              <a:latin typeface="Arial"/>
            </a:endParaRPr>
          </a:p>
          <a:p>
            <a:pPr marL="228600" indent="0">
              <a:lnSpc>
                <a:spcPct val="90000"/>
              </a:lnSpc>
              <a:spcBef>
                <a:spcPts val="1001"/>
              </a:spcBef>
              <a:buNone/>
              <a:tabLst>
                <a:tab algn="l" pos="0"/>
              </a:tabLst>
            </a:pPr>
            <a:endParaRPr b="0" lang="en-US" sz="1800" spc="-1" strike="noStrike">
              <a:solidFill>
                <a:srgbClr val="000000"/>
              </a:solidFill>
              <a:latin typeface="Arial"/>
            </a:endParaRPr>
          </a:p>
          <a:p>
            <a:pPr marL="228600" indent="0">
              <a:lnSpc>
                <a:spcPct val="90000"/>
              </a:lnSpc>
              <a:spcBef>
                <a:spcPts val="1001"/>
              </a:spcBef>
              <a:buNone/>
              <a:tabLst>
                <a:tab algn="l" pos="0"/>
              </a:tabLst>
            </a:pPr>
            <a:r>
              <a:rPr b="0" lang="en-US" sz="1800" spc="-1" strike="noStrike">
                <a:solidFill>
                  <a:srgbClr val="000000"/>
                </a:solidFill>
                <a:latin typeface="Times New Roman"/>
                <a:ea typeface="Times New Roman"/>
              </a:rPr>
              <a:t>Reference:</a:t>
            </a:r>
            <a:endParaRPr b="0" lang="en-US" sz="1800" spc="-1" strike="noStrike">
              <a:solidFill>
                <a:srgbClr val="000000"/>
              </a:solidFill>
              <a:latin typeface="Arial"/>
            </a:endParaRPr>
          </a:p>
          <a:p>
            <a:pPr marL="228600" indent="0">
              <a:lnSpc>
                <a:spcPct val="90000"/>
              </a:lnSpc>
              <a:spcBef>
                <a:spcPts val="1001"/>
              </a:spcBef>
              <a:buNone/>
              <a:tabLst>
                <a:tab algn="l" pos="0"/>
              </a:tabLst>
            </a:pPr>
            <a:r>
              <a:rPr b="0" lang="en-US" sz="1800" spc="-1" strike="noStrike">
                <a:solidFill>
                  <a:srgbClr val="000000"/>
                </a:solidFill>
                <a:latin typeface="Times New Roman"/>
                <a:ea typeface="Times New Roman"/>
              </a:rPr>
              <a:t>Bensalah, M. &amp; Hair, A. (2025). High-Resolution Load Dataset from Smart Meters Across Various Cities in Morocco [Dataset]. UCI Machine Learning Repository. https://doi.org/10.24432/C5FC8R.</a:t>
            </a:r>
            <a:endParaRPr b="0" lang="en-US" sz="1800" spc="-1" strike="noStrike">
              <a:solidFill>
                <a:srgbClr val="000000"/>
              </a:solidFill>
              <a:latin typeface="Arial"/>
            </a:endParaRPr>
          </a:p>
          <a:p>
            <a:pPr marL="228600" indent="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1080" y="0"/>
            <a:ext cx="7999200" cy="913680"/>
          </a:xfrm>
          <a:prstGeom prst="rect">
            <a:avLst/>
          </a:prstGeom>
          <a:noFill/>
          <a:ln w="0">
            <a:noFill/>
          </a:ln>
        </p:spPr>
        <p:txBody>
          <a:bodyPr lIns="90000" rIns="90000" tIns="45000" bIns="45000" anchor="ctr">
            <a:noAutofit/>
          </a:bodyPr>
          <a:p>
            <a:pPr indent="0">
              <a:lnSpc>
                <a:spcPct val="90000"/>
              </a:lnSpc>
              <a:buNone/>
              <a:tabLst>
                <a:tab algn="l" pos="0"/>
              </a:tabLst>
            </a:pPr>
            <a:r>
              <a:rPr b="0" lang="en-US" sz="4400" spc="-1" strike="noStrike">
                <a:solidFill>
                  <a:srgbClr val="000000"/>
                </a:solidFill>
                <a:latin typeface="Calibri Light"/>
              </a:rPr>
              <a:t>Prepare</a:t>
            </a:r>
            <a:endParaRPr b="0" lang="en-US" sz="4400" spc="-1" strike="noStrike">
              <a:solidFill>
                <a:srgbClr val="000000"/>
              </a:solidFill>
              <a:latin typeface="Arial"/>
            </a:endParaRPr>
          </a:p>
        </p:txBody>
      </p:sp>
      <p:sp>
        <p:nvSpPr>
          <p:cNvPr id="91" name="PlaceHolder 2"/>
          <p:cNvSpPr>
            <a:spLocks noGrp="1"/>
          </p:cNvSpPr>
          <p:nvPr>
            <p:ph/>
          </p:nvPr>
        </p:nvSpPr>
        <p:spPr>
          <a:xfrm>
            <a:off x="0" y="651600"/>
            <a:ext cx="12115080" cy="6205680"/>
          </a:xfrm>
          <a:prstGeom prst="rect">
            <a:avLst/>
          </a:prstGeom>
          <a:noFill/>
          <a:ln w="0">
            <a:noFill/>
          </a:ln>
        </p:spPr>
        <p:txBody>
          <a:bodyPr lIns="90000" rIns="90000" tIns="45000" bIns="45000" anchor="t">
            <a:noAutofit/>
          </a:bodyPr>
          <a:p>
            <a:pPr marL="228600" indent="0">
              <a:lnSpc>
                <a:spcPct val="90000"/>
              </a:lnSpc>
              <a:spcBef>
                <a:spcPts val="1001"/>
              </a:spcBef>
              <a:buNone/>
              <a:tabLst>
                <a:tab algn="l" pos="0"/>
              </a:tabLst>
            </a:pPr>
            <a:r>
              <a:rPr b="0" lang="en-US" sz="1800" spc="-1" strike="noStrike">
                <a:solidFill>
                  <a:srgbClr val="000000"/>
                </a:solidFill>
                <a:latin typeface="Times New Roman"/>
                <a:ea typeface="Times New Roman"/>
              </a:rPr>
              <a:t>Merged the four city sheets from the provided .xlsx on DateTime after sorting each index (Marrakech was not sorted on DateTime) and removing duplicate timestamps.</a:t>
            </a:r>
            <a:endParaRPr b="0" lang="en-US" sz="1800" spc="-1" strike="noStrike">
              <a:solidFill>
                <a:srgbClr val="000000"/>
              </a:solidFill>
              <a:latin typeface="Arial"/>
            </a:endParaRPr>
          </a:p>
          <a:p>
            <a:pPr marL="228600" indent="0">
              <a:lnSpc>
                <a:spcPct val="90000"/>
              </a:lnSpc>
              <a:spcBef>
                <a:spcPts val="1001"/>
              </a:spcBef>
              <a:buNone/>
              <a:tabLst>
                <a:tab algn="l" pos="0"/>
              </a:tabLst>
            </a:pPr>
            <a:r>
              <a:rPr b="0" lang="en-US" sz="1800" spc="-1" strike="noStrike">
                <a:solidFill>
                  <a:srgbClr val="000000"/>
                </a:solidFill>
                <a:latin typeface="Times New Roman"/>
                <a:ea typeface="Times New Roman"/>
              </a:rPr>
              <a:t>Standardized time resolution: resampled the other 3 cities from 10-minute to Marrakech’s 30-minute interval so all four cities align on the same timestamp grid.</a:t>
            </a:r>
            <a:endParaRPr b="0" lang="en-US" sz="1800" spc="-1" strike="noStrike">
              <a:solidFill>
                <a:srgbClr val="000000"/>
              </a:solidFill>
              <a:latin typeface="Arial"/>
            </a:endParaRPr>
          </a:p>
          <a:p>
            <a:pPr marL="228600" indent="0">
              <a:lnSpc>
                <a:spcPct val="90000"/>
              </a:lnSpc>
              <a:spcBef>
                <a:spcPts val="1001"/>
              </a:spcBef>
              <a:buNone/>
              <a:tabLst>
                <a:tab algn="l" pos="0"/>
              </a:tabLst>
            </a:pPr>
            <a:r>
              <a:rPr b="0" lang="en-US" sz="1800" spc="-1" strike="noStrike">
                <a:solidFill>
                  <a:srgbClr val="000000"/>
                </a:solidFill>
                <a:latin typeface="Times New Roman"/>
                <a:ea typeface="Times New Roman"/>
              </a:rPr>
              <a:t>Identified a units mismatch: Laâyoune, Boujdour, and Foum Eloued are recorded in Amperes, while Marrakech is recorded in Kilowatts. This will be a known limitation for a direct cross-city magnitude comparison unless we do a unit conversion per row.</a:t>
            </a:r>
            <a:endParaRPr b="0" lang="en-US" sz="1800" spc="-1" strike="noStrike">
              <a:solidFill>
                <a:srgbClr val="000000"/>
              </a:solidFill>
              <a:latin typeface="Arial"/>
            </a:endParaRPr>
          </a:p>
          <a:p>
            <a:pPr marL="228600" indent="0">
              <a:lnSpc>
                <a:spcPct val="90000"/>
              </a:lnSpc>
              <a:spcBef>
                <a:spcPts val="1001"/>
              </a:spcBef>
              <a:buNone/>
              <a:tabLst>
                <a:tab algn="l" pos="0"/>
              </a:tabLst>
            </a:pPr>
            <a:r>
              <a:rPr b="0" lang="en-US" sz="1800" spc="-1" strike="noStrike">
                <a:solidFill>
                  <a:srgbClr val="000000"/>
                </a:solidFill>
                <a:latin typeface="Times New Roman"/>
                <a:ea typeface="Times New Roman"/>
              </a:rPr>
              <a:t>Since Laâyoune, Boujdour, and Foum Eloued are metered in Amperes, converting to kW requires a voltage assumption (the    dataset doesn't include voltage directly, only the meter read, ie total consumption):</a:t>
            </a:r>
            <a:endParaRPr b="0" lang="en-US" sz="1800" spc="-1" strike="noStrike">
              <a:solidFill>
                <a:srgbClr val="000000"/>
              </a:solidFill>
              <a:latin typeface="Arial"/>
            </a:endParaRPr>
          </a:p>
          <a:p>
            <a:pPr marL="228600" indent="0">
              <a:lnSpc>
                <a:spcPct val="90000"/>
              </a:lnSpc>
              <a:spcBef>
                <a:spcPts val="1001"/>
              </a:spcBef>
              <a:buNone/>
              <a:tabLst>
                <a:tab algn="l" pos="0"/>
              </a:tabLst>
            </a:pPr>
            <a:endParaRPr b="0" lang="en-US" sz="1800" spc="-1" strike="noStrike">
              <a:solidFill>
                <a:srgbClr val="000000"/>
              </a:solidFill>
              <a:latin typeface="Arial"/>
            </a:endParaRPr>
          </a:p>
          <a:p>
            <a:pPr marL="228600" indent="0">
              <a:lnSpc>
                <a:spcPct val="90000"/>
              </a:lnSpc>
              <a:spcBef>
                <a:spcPts val="1001"/>
              </a:spcBef>
              <a:buNone/>
              <a:tabLst>
                <a:tab algn="l" pos="0"/>
              </a:tabLst>
            </a:pPr>
            <a:r>
              <a:rPr b="0" lang="en-US" sz="1800" spc="-1" strike="noStrike">
                <a:solidFill>
                  <a:srgbClr val="000000"/>
                </a:solidFill>
                <a:latin typeface="Times New Roman"/>
                <a:ea typeface="Times New Roman"/>
              </a:rPr>
              <a:t>Morocco's standard domestic supply is 220V AC single-phase; industrial connections are commonly 380V AC three-phase. Since the dataset does not separate domestic and industrial profiles, and we will state our assumed voltage explicitly as a limitation in our report to be 220V AC single-phase.</a:t>
            </a:r>
            <a:endParaRPr b="0" lang="en-US" sz="1800" spc="-1" strike="noStrike">
              <a:solidFill>
                <a:srgbClr val="000000"/>
              </a:solidFill>
              <a:latin typeface="Arial"/>
            </a:endParaRPr>
          </a:p>
          <a:p>
            <a:pPr marL="228600" indent="0">
              <a:lnSpc>
                <a:spcPct val="90000"/>
              </a:lnSpc>
              <a:spcBef>
                <a:spcPts val="1001"/>
              </a:spcBef>
              <a:buNone/>
              <a:tabLst>
                <a:tab algn="l" pos="0"/>
              </a:tabLst>
            </a:pPr>
            <a:r>
              <a:rPr b="0" lang="en-US" sz="1800" spc="-1" strike="noStrike">
                <a:solidFill>
                  <a:srgbClr val="000000"/>
                </a:solidFill>
                <a:latin typeface="Times New Roman"/>
                <a:ea typeface="Times New Roman"/>
              </a:rPr>
              <a:t>There is a coverage gap. Marrakech data spans Jan 2023 – Jan 2024, which is less overall time than the Sep 2022 – May 2024 range for the other three cities. This will produce NaNs outside that window after the outer join.</a:t>
            </a:r>
            <a:endParaRPr b="0" lang="en-US" sz="1800" spc="-1" strike="noStrike">
              <a:solidFill>
                <a:srgbClr val="000000"/>
              </a:solidFill>
              <a:latin typeface="Arial"/>
            </a:endParaRPr>
          </a:p>
          <a:p>
            <a:pPr marL="228600" indent="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3800" cy="1323720"/>
          </a:xfrm>
          <a:prstGeom prst="rect">
            <a:avLst/>
          </a:prstGeom>
          <a:noFill/>
          <a:ln w="0">
            <a:noFill/>
          </a:ln>
        </p:spPr>
        <p:txBody>
          <a:bodyPr lIns="90000" rIns="90000" tIns="45000" bIns="45000" anchor="ctr">
            <a:noAutofit/>
          </a:bodyPr>
          <a:p>
            <a:pPr indent="0">
              <a:lnSpc>
                <a:spcPct val="90000"/>
              </a:lnSpc>
              <a:buNone/>
              <a:tabLst>
                <a:tab algn="l" pos="0"/>
              </a:tabLst>
            </a:pPr>
            <a:r>
              <a:rPr b="0" lang="en-US" sz="4400" spc="-1" strike="noStrike">
                <a:solidFill>
                  <a:srgbClr val="000000"/>
                </a:solidFill>
                <a:latin typeface="Calibri Light"/>
              </a:rPr>
              <a:t>Analyze data</a:t>
            </a:r>
            <a:endParaRPr b="0" lang="en-US" sz="4400" spc="-1" strike="noStrike">
              <a:solidFill>
                <a:srgbClr val="000000"/>
              </a:solidFill>
              <a:latin typeface="Arial"/>
            </a:endParaRPr>
          </a:p>
        </p:txBody>
      </p:sp>
      <p:sp>
        <p:nvSpPr>
          <p:cNvPr id="93" name="PlaceHolder 2"/>
          <p:cNvSpPr>
            <a:spLocks noGrp="1"/>
          </p:cNvSpPr>
          <p:nvPr>
            <p:ph/>
          </p:nvPr>
        </p:nvSpPr>
        <p:spPr>
          <a:xfrm>
            <a:off x="838080" y="1825560"/>
            <a:ext cx="10513800" cy="43495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0" lang="en-US" sz="1800" spc="-1" strike="noStrike">
                <a:solidFill>
                  <a:srgbClr val="000000"/>
                </a:solidFill>
                <a:latin typeface="Times New Roman"/>
                <a:ea typeface="Times New Roman"/>
              </a:rPr>
              <a:t>Applied a 90th-percentile-per-zone threshold to convert continuous kW readings into binary Peak/Normal labels — a data-driven definition that avoids assuming a fixed kW cutoff across cities with very different scales (e.g., Laâyoune's 90th percentile is 145 kW vs. Marrakech's 1,635 kW)</a:t>
            </a: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Times New Roman"/>
                <a:ea typeface="Times New Roman"/>
              </a:rPr>
              <a:t>Used comparative visual EDA such as boxplots (distribution shape per zone), an hour-of-day heatmap (when peaks occur), a seasonal peak-rate heatmap (whether peaks cluster by time of year), and a zone-to-zone correlation matrix (whether zones move together) as the primary analytical techniques for this phase.</a:t>
            </a: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1440" y="0"/>
            <a:ext cx="10513800" cy="685440"/>
          </a:xfrm>
          <a:prstGeom prst="rect">
            <a:avLst/>
          </a:prstGeom>
          <a:noFill/>
          <a:ln w="0">
            <a:noFill/>
          </a:ln>
        </p:spPr>
        <p:txBody>
          <a:bodyPr lIns="90000" rIns="90000" tIns="45000" bIns="45000" anchor="ctr">
            <a:noAutofit/>
          </a:bodyPr>
          <a:p>
            <a:pPr indent="0">
              <a:lnSpc>
                <a:spcPct val="90000"/>
              </a:lnSpc>
              <a:buNone/>
              <a:tabLst>
                <a:tab algn="l" pos="0"/>
              </a:tabLst>
            </a:pPr>
            <a:r>
              <a:rPr b="0" lang="en-US" sz="4400" spc="-1" strike="noStrike">
                <a:solidFill>
                  <a:srgbClr val="000000"/>
                </a:solidFill>
                <a:latin typeface="Calibri Light"/>
              </a:rPr>
              <a:t>Report</a:t>
            </a:r>
            <a:endParaRPr b="0" lang="en-US" sz="4400" spc="-1" strike="noStrike">
              <a:solidFill>
                <a:srgbClr val="000000"/>
              </a:solidFill>
              <a:latin typeface="Arial"/>
            </a:endParaRPr>
          </a:p>
        </p:txBody>
      </p:sp>
      <p:sp>
        <p:nvSpPr>
          <p:cNvPr id="95" name="PlaceHolder 2"/>
          <p:cNvSpPr>
            <a:spLocks noGrp="1"/>
          </p:cNvSpPr>
          <p:nvPr>
            <p:ph/>
          </p:nvPr>
        </p:nvSpPr>
        <p:spPr>
          <a:xfrm>
            <a:off x="0" y="679320"/>
            <a:ext cx="5486040" cy="61783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0" lang="en-US" sz="1600" spc="-1" strike="noStrike">
                <a:solidFill>
                  <a:srgbClr val="000000"/>
                </a:solidFill>
                <a:latin typeface="Arial"/>
                <a:ea typeface="Times New Roman"/>
              </a:rPr>
              <a:t>Figure 1. Peak by hour distribution</a:t>
            </a: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indent="0">
              <a:lnSpc>
                <a:spcPct val="90000"/>
              </a:lnSpc>
              <a:spcBef>
                <a:spcPts val="1001"/>
              </a:spcBef>
              <a:buNone/>
              <a:tabLst>
                <a:tab algn="l" pos="0"/>
              </a:tabLst>
            </a:pPr>
            <a:r>
              <a:rPr b="0" lang="en-US" sz="1600" spc="-1" strike="noStrike">
                <a:solidFill>
                  <a:srgbClr val="000000"/>
                </a:solidFill>
                <a:latin typeface="Arial"/>
                <a:ea typeface="Times New Roman"/>
              </a:rPr>
              <a:t>Figure 2. Seasonal Peak Rate Heat Map</a:t>
            </a:r>
            <a:endParaRPr b="0" lang="en-US" sz="16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p:txBody>
      </p:sp>
      <p:sp>
        <p:nvSpPr>
          <p:cNvPr id="96" name=""/>
          <p:cNvSpPr/>
          <p:nvPr/>
        </p:nvSpPr>
        <p:spPr>
          <a:xfrm>
            <a:off x="6755040" y="18720"/>
            <a:ext cx="1016640" cy="345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pic>
        <p:nvPicPr>
          <p:cNvPr id="97" name="" descr=""/>
          <p:cNvPicPr/>
          <p:nvPr/>
        </p:nvPicPr>
        <p:blipFill>
          <a:blip r:embed="rId1"/>
          <a:stretch/>
        </p:blipFill>
        <p:spPr>
          <a:xfrm>
            <a:off x="0" y="1060920"/>
            <a:ext cx="5047560" cy="3053520"/>
          </a:xfrm>
          <a:prstGeom prst="rect">
            <a:avLst/>
          </a:prstGeom>
          <a:ln w="0">
            <a:noFill/>
          </a:ln>
        </p:spPr>
      </p:pic>
      <p:pic>
        <p:nvPicPr>
          <p:cNvPr id="98" name="" descr=""/>
          <p:cNvPicPr/>
          <p:nvPr/>
        </p:nvPicPr>
        <p:blipFill>
          <a:blip r:embed="rId2"/>
          <a:stretch/>
        </p:blipFill>
        <p:spPr>
          <a:xfrm>
            <a:off x="0" y="4572000"/>
            <a:ext cx="5511240" cy="2177280"/>
          </a:xfrm>
          <a:prstGeom prst="rect">
            <a:avLst/>
          </a:prstGeom>
          <a:ln w="0">
            <a:noFill/>
          </a:ln>
        </p:spPr>
      </p:pic>
      <p:sp>
        <p:nvSpPr>
          <p:cNvPr id="99" name="PlaceHolder 7"/>
          <p:cNvSpPr/>
          <p:nvPr/>
        </p:nvSpPr>
        <p:spPr>
          <a:xfrm>
            <a:off x="5715000" y="679320"/>
            <a:ext cx="5486040" cy="61783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tabLst>
                <a:tab algn="l" pos="0"/>
              </a:tabLst>
            </a:pPr>
            <a:r>
              <a:rPr b="0" lang="en-US" sz="1600" spc="-1" strike="noStrike">
                <a:solidFill>
                  <a:srgbClr val="000000"/>
                </a:solidFill>
                <a:latin typeface="Arial"/>
                <a:ea typeface="Times New Roman"/>
              </a:rPr>
              <a:t>Figure 3. Peak-Period Frequency by Hour, per Zone</a:t>
            </a: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a:p>
            <a:pPr>
              <a:lnSpc>
                <a:spcPct val="90000"/>
              </a:lnSpc>
              <a:spcBef>
                <a:spcPts val="1001"/>
              </a:spcBef>
              <a:tabLst>
                <a:tab algn="l" pos="0"/>
              </a:tabLst>
            </a:pPr>
            <a:endParaRPr b="0" lang="en-US" sz="1600" spc="-1" strike="noStrike">
              <a:solidFill>
                <a:srgbClr val="000000"/>
              </a:solidFill>
              <a:latin typeface="Arial"/>
            </a:endParaRPr>
          </a:p>
        </p:txBody>
      </p:sp>
      <p:pic>
        <p:nvPicPr>
          <p:cNvPr id="100" name="" descr=""/>
          <p:cNvPicPr/>
          <p:nvPr/>
        </p:nvPicPr>
        <p:blipFill>
          <a:blip r:embed="rId3"/>
          <a:stretch/>
        </p:blipFill>
        <p:spPr>
          <a:xfrm>
            <a:off x="5613840" y="1118160"/>
            <a:ext cx="5130000" cy="2767680"/>
          </a:xfrm>
          <a:prstGeom prst="rect">
            <a:avLst/>
          </a:prstGeom>
          <a:ln w="0">
            <a:noFill/>
          </a:ln>
        </p:spPr>
      </p:pic>
      <p:sp>
        <p:nvSpPr>
          <p:cNvPr id="101" name=""/>
          <p:cNvSpPr txBox="1"/>
          <p:nvPr/>
        </p:nvSpPr>
        <p:spPr>
          <a:xfrm>
            <a:off x="5257800" y="3886200"/>
            <a:ext cx="6934320" cy="2847240"/>
          </a:xfrm>
          <a:prstGeom prst="rect">
            <a:avLst/>
          </a:prstGeom>
          <a:noFill/>
          <a:ln w="0">
            <a:noFill/>
          </a:ln>
        </p:spPr>
        <p:txBody>
          <a:bodyPr lIns="90000" rIns="90000" tIns="45000" bIns="45000" anchor="t">
            <a:noAutofit/>
          </a:bodyPr>
          <a:p>
            <a:pPr>
              <a:lnSpc>
                <a:spcPct val="90000"/>
              </a:lnSpc>
              <a:spcBef>
                <a:spcPts val="1001"/>
              </a:spcBef>
              <a:tabLst>
                <a:tab algn="l" pos="0"/>
              </a:tabLst>
            </a:pPr>
            <a:r>
              <a:rPr b="1" lang="en-US" sz="1800" spc="-1" strike="noStrike">
                <a:solidFill>
                  <a:srgbClr val="000000"/>
                </a:solidFill>
                <a:latin typeface="Times New Roman"/>
                <a:ea typeface="Times New Roman"/>
              </a:rPr>
              <a:t>Figure 1:</a:t>
            </a:r>
            <a:r>
              <a:rPr b="0" lang="en-US" sz="1800" spc="-1" strike="noStrike">
                <a:solidFill>
                  <a:srgbClr val="000000"/>
                </a:solidFill>
                <a:latin typeface="Times New Roman"/>
                <a:ea typeface="Times New Roman"/>
              </a:rPr>
              <a:t> Laâyoune and Boujdour peak in the evening (6–11 PM), consistent with residential usage; Marrakech peaks during business hours (8 AM–6 PM) with near-zero activity from 11 PM–6 AM, consistent with commercial/institutional load rather than residential</a:t>
            </a:r>
            <a:endParaRPr b="0" lang="en-US" sz="1800" spc="-1" strike="noStrike">
              <a:solidFill>
                <a:srgbClr val="000000"/>
              </a:solidFill>
              <a:latin typeface="Arial"/>
            </a:endParaRPr>
          </a:p>
          <a:p>
            <a:pPr>
              <a:lnSpc>
                <a:spcPct val="90000"/>
              </a:lnSpc>
              <a:spcBef>
                <a:spcPts val="1001"/>
              </a:spcBef>
              <a:tabLst>
                <a:tab algn="l" pos="0"/>
              </a:tabLst>
            </a:pPr>
            <a:r>
              <a:rPr b="0" lang="en-US" sz="1800" spc="-1" strike="noStrike">
                <a:solidFill>
                  <a:srgbClr val="000000"/>
                </a:solidFill>
                <a:latin typeface="Times New Roman"/>
                <a:ea typeface="Times New Roman"/>
              </a:rPr>
              <a:t>Marrakech is a daytime bell curve peaking around 2-3 PM, with almost nothing from 10 PM to 6 AM. That fits office or commercial load, and probably afternoon cooling.</a:t>
            </a:r>
            <a:endParaRPr b="0" lang="en-US" sz="1800" spc="-1" strike="noStrike">
              <a:solidFill>
                <a:srgbClr val="000000"/>
              </a:solidFill>
              <a:latin typeface="Arial"/>
            </a:endParaRPr>
          </a:p>
          <a:p>
            <a:pPr>
              <a:lnSpc>
                <a:spcPct val="90000"/>
              </a:lnSpc>
              <a:spcBef>
                <a:spcPts val="1001"/>
              </a:spcBef>
              <a:tabLst>
                <a:tab algn="l" pos="0"/>
              </a:tabLst>
            </a:pPr>
            <a:r>
              <a:rPr b="1" lang="en-US" sz="1800" spc="-1" strike="noStrike">
                <a:solidFill>
                  <a:srgbClr val="000000"/>
                </a:solidFill>
                <a:latin typeface="Times New Roman"/>
                <a:ea typeface="Times New Roman"/>
              </a:rPr>
              <a:t>Figure 2: </a:t>
            </a:r>
            <a:r>
              <a:rPr b="0" lang="en-US" sz="1800" spc="-1" strike="noStrike">
                <a:solidFill>
                  <a:srgbClr val="000000"/>
                </a:solidFill>
                <a:latin typeface="Times New Roman"/>
                <a:ea typeface="Times New Roman"/>
              </a:rPr>
              <a:t>Laâyoune's zones 2–5 correlate at 0.71–0.88 with each other, and Foum Eloued's zones 1–4 similarly cluster (0.72–0.86), while cross-city correlations stay mostly under 0.3, this supports the idea that each region behaves independently.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3800" cy="1323720"/>
          </a:xfrm>
          <a:prstGeom prst="rect">
            <a:avLst/>
          </a:prstGeom>
          <a:noFill/>
          <a:ln w="0">
            <a:noFill/>
          </a:ln>
        </p:spPr>
        <p:txBody>
          <a:bodyPr lIns="90000" rIns="90000" tIns="45000" bIns="45000" anchor="ctr">
            <a:noAutofit/>
          </a:bodyPr>
          <a:p>
            <a:pPr indent="0">
              <a:lnSpc>
                <a:spcPct val="90000"/>
              </a:lnSpc>
              <a:buNone/>
              <a:tabLst>
                <a:tab algn="l" pos="0"/>
              </a:tabLst>
            </a:pPr>
            <a:r>
              <a:rPr b="0" lang="en-US" sz="4400" spc="-1" strike="noStrike">
                <a:solidFill>
                  <a:srgbClr val="000000"/>
                </a:solidFill>
                <a:latin typeface="Calibri Light"/>
              </a:rPr>
              <a:t>Report</a:t>
            </a:r>
            <a:endParaRPr b="0" lang="en-US" sz="4400" spc="-1" strike="noStrike">
              <a:solidFill>
                <a:srgbClr val="000000"/>
              </a:solidFill>
              <a:latin typeface="Arial"/>
            </a:endParaRPr>
          </a:p>
        </p:txBody>
      </p:sp>
      <p:sp>
        <p:nvSpPr>
          <p:cNvPr id="103" name="PlaceHolder 2"/>
          <p:cNvSpPr>
            <a:spLocks noGrp="1"/>
          </p:cNvSpPr>
          <p:nvPr>
            <p:ph/>
          </p:nvPr>
        </p:nvSpPr>
        <p:spPr>
          <a:xfrm>
            <a:off x="838080" y="1825560"/>
            <a:ext cx="10513800" cy="43495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0" lang="en-US" sz="1800" spc="-1" strike="noStrike">
                <a:solidFill>
                  <a:srgbClr val="000000"/>
                </a:solidFill>
                <a:latin typeface="Times New Roman"/>
                <a:ea typeface="Times New Roman"/>
              </a:rPr>
              <a:t>Marrakech's totals are far higher than the other three cities, but this likely reflects the fact the population of the cities are so vastly different. (See Figure 4)</a:t>
            </a: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Times New Roman"/>
                <a:ea typeface="Times New Roman"/>
              </a:rPr>
              <a:t>Foum Eloued's zone 6 spikes to a 45.9% peak rate in summer (vs. ~2% the rest of the year); Marrakech's zone 1 also peaks in summer (25.8%), both plausibly cooling-driven, while most Laâyoune and other Foum Eloued zones instead peak in fall</a:t>
            </a: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Times New Roman"/>
                <a:ea typeface="Times New Roman"/>
              </a:rPr>
              <a:t>Peak timing and seasonal patterns clearly vary by region, supporting the hypothesis statement; direct intensity comparisons across cities remain confounded by unit/aggregation differences and are noted as a limitation for future work</a:t>
            </a: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2800" spc="-1" strike="noStrike">
              <a:solidFill>
                <a:srgbClr val="000000"/>
              </a:solidFill>
              <a:latin typeface="Arial"/>
            </a:endParaRPr>
          </a:p>
        </p:txBody>
      </p:sp>
      <p:pic>
        <p:nvPicPr>
          <p:cNvPr id="104" name="" descr=""/>
          <p:cNvPicPr/>
          <p:nvPr/>
        </p:nvPicPr>
        <p:blipFill>
          <a:blip r:embed="rId1"/>
          <a:stretch/>
        </p:blipFill>
        <p:spPr>
          <a:xfrm>
            <a:off x="7652160" y="0"/>
            <a:ext cx="4539240" cy="1510200"/>
          </a:xfrm>
          <a:prstGeom prst="rect">
            <a:avLst/>
          </a:prstGeom>
          <a:ln w="0">
            <a:noFill/>
          </a:ln>
        </p:spPr>
      </p:pic>
      <p:sp>
        <p:nvSpPr>
          <p:cNvPr id="105" name=""/>
          <p:cNvSpPr/>
          <p:nvPr/>
        </p:nvSpPr>
        <p:spPr>
          <a:xfrm>
            <a:off x="6629400" y="18720"/>
            <a:ext cx="1142280" cy="345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i="1" lang="en-US" sz="1800" spc="-1" strike="noStrike">
                <a:solidFill>
                  <a:srgbClr val="000000"/>
                </a:solidFill>
                <a:latin typeface="Arial"/>
                <a:ea typeface="DejaVu Sans"/>
              </a:rPr>
              <a:t>Figure 4.</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0" y="0"/>
            <a:ext cx="10513800" cy="685440"/>
          </a:xfrm>
          <a:prstGeom prst="rect">
            <a:avLst/>
          </a:prstGeom>
          <a:noFill/>
          <a:ln w="0">
            <a:noFill/>
          </a:ln>
        </p:spPr>
        <p:txBody>
          <a:bodyPr lIns="90000" rIns="90000" tIns="45000" bIns="45000" anchor="ctr">
            <a:noAutofit/>
          </a:bodyPr>
          <a:p>
            <a:pPr indent="0">
              <a:lnSpc>
                <a:spcPct val="90000"/>
              </a:lnSpc>
              <a:buNone/>
              <a:tabLst>
                <a:tab algn="l" pos="0"/>
              </a:tabLst>
            </a:pPr>
            <a:r>
              <a:rPr b="0" lang="en-US" sz="4400" spc="-1" strike="noStrike">
                <a:solidFill>
                  <a:srgbClr val="000000"/>
                </a:solidFill>
                <a:latin typeface="Calibri Light"/>
              </a:rPr>
              <a:t>Act I – Regression and SVM</a:t>
            </a:r>
            <a:endParaRPr b="0" lang="en-US" sz="4400" spc="-1" strike="noStrike">
              <a:solidFill>
                <a:srgbClr val="000000"/>
              </a:solidFill>
              <a:latin typeface="Arial"/>
            </a:endParaRPr>
          </a:p>
        </p:txBody>
      </p:sp>
      <p:sp>
        <p:nvSpPr>
          <p:cNvPr id="107" name="PlaceHolder 2"/>
          <p:cNvSpPr>
            <a:spLocks noGrp="1"/>
          </p:cNvSpPr>
          <p:nvPr>
            <p:ph/>
          </p:nvPr>
        </p:nvSpPr>
        <p:spPr>
          <a:xfrm>
            <a:off x="0" y="679320"/>
            <a:ext cx="12191760" cy="61783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Times New Roman"/>
                <a:ea typeface="Times New Roman"/>
              </a:rPr>
              <a:t>A linear decision boundary is a genuinely limited tool for this problem as we can see in our confusion matrices above. Peak behavior varies by city, by season, and by hour simultaneously — a three-way interaction a linear model struggles to represent even with a two-way interaction term added.</a:t>
            </a:r>
            <a:endParaRPr b="0" lang="en-US" sz="1800" spc="-1" strike="noStrike">
              <a:solidFill>
                <a:srgbClr val="000000"/>
              </a:solidFill>
              <a:latin typeface="Arial"/>
            </a:endParaRPr>
          </a:p>
          <a:p>
            <a:pPr indent="0">
              <a:lnSpc>
                <a:spcPct val="90000"/>
              </a:lnSpc>
              <a:spcBef>
                <a:spcPts val="1001"/>
              </a:spcBef>
              <a:buNone/>
              <a:tabLst>
                <a:tab algn="l" pos="0"/>
              </a:tabLst>
            </a:pP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Times New Roman"/>
                <a:ea typeface="Times New Roman"/>
              </a:rPr>
              <a:t>A linear classifier captures some zone/hour structure but underperforms at identifying peak periods, motivating a sequence-aware deep learning approach to build off of in Act II.</a:t>
            </a:r>
            <a:endParaRPr b="0" lang="en-US" sz="1800" spc="-1" strike="noStrike">
              <a:solidFill>
                <a:srgbClr val="000000"/>
              </a:solidFill>
              <a:latin typeface="Arial"/>
            </a:endParaRPr>
          </a:p>
        </p:txBody>
      </p:sp>
      <p:pic>
        <p:nvPicPr>
          <p:cNvPr id="108" name="" descr=""/>
          <p:cNvPicPr/>
          <p:nvPr/>
        </p:nvPicPr>
        <p:blipFill>
          <a:blip r:embed="rId1"/>
          <a:stretch/>
        </p:blipFill>
        <p:spPr>
          <a:xfrm>
            <a:off x="152280" y="628920"/>
            <a:ext cx="12039480" cy="37141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1440" y="0"/>
            <a:ext cx="10513800" cy="685440"/>
          </a:xfrm>
          <a:prstGeom prst="rect">
            <a:avLst/>
          </a:prstGeom>
          <a:noFill/>
          <a:ln w="0">
            <a:noFill/>
          </a:ln>
        </p:spPr>
        <p:txBody>
          <a:bodyPr lIns="90000" rIns="90000" tIns="45000" bIns="45000" anchor="ctr">
            <a:noAutofit/>
          </a:bodyPr>
          <a:p>
            <a:pPr indent="0">
              <a:lnSpc>
                <a:spcPct val="90000"/>
              </a:lnSpc>
              <a:buNone/>
              <a:tabLst>
                <a:tab algn="l" pos="0"/>
              </a:tabLst>
            </a:pPr>
            <a:r>
              <a:rPr b="0" lang="en-US" sz="4400" spc="-1" strike="noStrike">
                <a:solidFill>
                  <a:srgbClr val="000000"/>
                </a:solidFill>
                <a:latin typeface="Calibri Light"/>
              </a:rPr>
              <a:t>Act II – Recurrent Neural Networks</a:t>
            </a:r>
            <a:endParaRPr b="0" lang="en-US" sz="4400" spc="-1" strike="noStrike">
              <a:solidFill>
                <a:srgbClr val="000000"/>
              </a:solidFill>
              <a:latin typeface="Arial"/>
            </a:endParaRPr>
          </a:p>
        </p:txBody>
      </p:sp>
      <p:sp>
        <p:nvSpPr>
          <p:cNvPr id="110" name="PlaceHolder 2"/>
          <p:cNvSpPr>
            <a:spLocks noGrp="1"/>
          </p:cNvSpPr>
          <p:nvPr>
            <p:ph/>
          </p:nvPr>
        </p:nvSpPr>
        <p:spPr>
          <a:xfrm>
            <a:off x="1440" y="679320"/>
            <a:ext cx="10513800" cy="434952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0" lang="en-US" sz="1800" spc="-1" strike="noStrike">
                <a:solidFill>
                  <a:srgbClr val="000000"/>
                </a:solidFill>
                <a:latin typeface="Times New Roman"/>
                <a:ea typeface="Times New Roman"/>
              </a:rPr>
              <a:t>Micro-Project 4 will apply RNN-based deep learning to model the sequential/time-series structure directly.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7362</TotalTime>
  <Application>LibreOffice/7.4.4.2$Windows_X86_64 LibreOffice_project/85569322deea74ec9134968a29af2df5663baa21</Application>
  <AppVersion>15.0000</AppVersion>
  <Words>96</Words>
  <Paragraphs>17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2022-03-01T22:05:03Z</dcterms:created>
  <dc:creator>Emmanuel J Rodriguez</dc:creator>
  <dc:description/>
  <dc:language>en-US</dc:language>
  <cp:lastModifiedBy/>
  <dcterms:modified xsi:type="dcterms:W3CDTF">2026-10-04T21:12:52Z</dcterms:modified>
  <cp:revision>22</cp:revision>
  <dc:subject/>
  <dc:title>&lt;Project Title&gt; &lt;Micro-Project #&gt;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8</vt:i4>
  </property>
</Properties>
</file>