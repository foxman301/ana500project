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presProps.xml" ContentType="application/vnd.openxmlformats-officedocument.presentationml.presProps+xml"/>
  <Override PartName="/ppt/media/image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AE8669D4-D935-4754-8300-1D5C29B74CDC}"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4BB7BF5-E70C-48F6-93D6-5738BFF56305}"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FE2AC8F-3EDF-4233-9171-BA54594E6D36}"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7C68BCD1-2CBE-46E0-B5DF-3ADC32BE3139}"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711CE0D5-7259-4D0D-B382-C115E3483549}"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26646311-50E4-49B7-A399-6DD41F18B230}"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3F73E1E-8E85-4F42-A760-48A1F716609B}"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F23629FD-63B2-4BF5-8921-8D7B67E9D48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9A6E18D-B0F9-43A4-8494-5B87F9F086E4}"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02CEC5A0-F4D3-4AB3-977F-174D4E435247}"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8404AFDC-F1CC-48C6-9418-8024CF8F7DD7}"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54E17D1A-61DB-4409-B525-A3DB4D572FC4}"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08FA9F6C-E47E-4281-A857-E00DDACBD85D}"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FD72A5C8-1727-4E59-B8CA-50AED8D02381}"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AC12E6FE-7880-429C-ACCC-613A58310235}"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EA24A2C0-3B9B-463B-B33A-721C626556EF}"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A0ABD655-C88E-4BA5-811F-93FAE7C144A8}"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8005B95C-7EEE-423F-AF37-666025DC9478}"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43F0948F-0541-4D15-8F73-D1ABB8F2ABD8}"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E73EAA0-78FE-4A45-BA45-770D4B969AEC}"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921E4C0-4BD3-47B0-A972-F44AFCE51211}"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6AE15C18-772D-436C-B490-171F7A15E324}"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BE89F735-389E-4B4C-AA56-083FA26C3B2D}"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36602ED5-BC95-44E0-AEFC-B87737F1A8F2}" type="slidenum">
              <a:t>&lt;#&gt;</a:t>
            </a:fld>
          </a:p>
        </p:txBody>
      </p:sp>
      <p:sp>
        <p:nvSpPr>
          <p:cNvPr id="11" name="PlaceHolder 10"/>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ftr" idx="1"/>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2"/>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1ED8EA6-A494-417D-9E5E-FA1A91518DD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 name="PlaceHolder 5"/>
          <p:cNvSpPr>
            <a:spLocks noGrp="1"/>
          </p:cNvSpPr>
          <p:nvPr>
            <p:ph type="dt" idx="3"/>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86050BC-6EE3-426B-84BB-87FA6F0ACC0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hyperlink" Target="https://github.com/Foxman301/ANA500Project" TargetMode="External"/><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1523880" y="1122480"/>
            <a:ext cx="9142920" cy="2386440"/>
          </a:xfrm>
          <a:prstGeom prst="rect">
            <a:avLst/>
          </a:prstGeom>
          <a:noFill/>
          <a:ln w="0">
            <a:noFill/>
          </a:ln>
        </p:spPr>
        <p:txBody>
          <a:bodyPr lIns="0" rIns="0" tIns="0" bIns="0" anchor="b">
            <a:normAutofit fontScale="84000"/>
          </a:bodyPr>
          <a:p>
            <a:pPr indent="0" algn="ctr">
              <a:lnSpc>
                <a:spcPct val="90000"/>
              </a:lnSpc>
              <a:buNone/>
              <a:tabLst>
                <a:tab algn="l" pos="0"/>
              </a:tabLst>
            </a:pPr>
            <a:r>
              <a:rPr b="0" lang="en-US" sz="6000" spc="-1" strike="noStrike">
                <a:solidFill>
                  <a:srgbClr val="000000"/>
                </a:solidFill>
                <a:latin typeface="Calibri Light"/>
              </a:rPr>
              <a:t>Electrical grid planning in Morocco</a:t>
            </a:r>
            <a:br>
              <a:rPr sz="6000"/>
            </a:br>
            <a:r>
              <a:rPr b="0" lang="en-US" sz="4800" spc="-1" strike="noStrike">
                <a:solidFill>
                  <a:srgbClr val="000000"/>
                </a:solidFill>
                <a:latin typeface="Calibri Light"/>
              </a:rPr>
              <a:t>Micro-Project 1</a:t>
            </a:r>
            <a:br>
              <a:rPr sz="4800"/>
            </a:br>
            <a:r>
              <a:rPr b="0" lang="en-US" sz="4800" spc="-1" strike="noStrike" u="sng">
                <a:solidFill>
                  <a:srgbClr val="0563c1"/>
                </a:solidFill>
                <a:uFillTx/>
                <a:latin typeface="Calibri Light"/>
                <a:hlinkClick r:id="rId1"/>
              </a:rPr>
              <a:t>Repository link</a:t>
            </a:r>
            <a:endParaRPr b="0" lang="en-US" sz="4800" spc="-1" strike="noStrike">
              <a:solidFill>
                <a:srgbClr val="000000"/>
              </a:solidFill>
              <a:latin typeface="Arial"/>
            </a:endParaRPr>
          </a:p>
        </p:txBody>
      </p:sp>
      <p:sp>
        <p:nvSpPr>
          <p:cNvPr id="83" name="PlaceHolder 2"/>
          <p:cNvSpPr>
            <a:spLocks noGrp="1"/>
          </p:cNvSpPr>
          <p:nvPr>
            <p:ph type="subTitle"/>
          </p:nvPr>
        </p:nvSpPr>
        <p:spPr>
          <a:xfrm>
            <a:off x="1523880" y="3602160"/>
            <a:ext cx="9142920" cy="1654560"/>
          </a:xfrm>
          <a:prstGeom prst="rect">
            <a:avLst/>
          </a:prstGeom>
          <a:noFill/>
          <a:ln w="0">
            <a:noFill/>
          </a:ln>
        </p:spPr>
        <p:txBody>
          <a:bodyPr lIns="0" rIns="0" tIns="0" bIns="0" anchor="t">
            <a:noAutofit/>
          </a:bodyPr>
          <a:p>
            <a:pPr indent="0" algn="ctr">
              <a:lnSpc>
                <a:spcPct val="90000"/>
              </a:lnSpc>
              <a:spcBef>
                <a:spcPts val="1001"/>
              </a:spcBef>
              <a:buNone/>
              <a:tabLst>
                <a:tab algn="l" pos="0"/>
              </a:tabLst>
            </a:pPr>
            <a:r>
              <a:rPr b="0" lang="en-US" sz="2400" spc="-1" strike="noStrike">
                <a:solidFill>
                  <a:srgbClr val="000000"/>
                </a:solidFill>
                <a:latin typeface="Calibri"/>
              </a:rPr>
              <a:t>Jonathan Espedal</a:t>
            </a:r>
            <a:endParaRPr b="0" lang="en-US" sz="2400" spc="-1" strike="noStrike">
              <a:solidFill>
                <a:srgbClr val="000000"/>
              </a:solidFill>
              <a:latin typeface="Arial"/>
            </a:endParaRPr>
          </a:p>
          <a:p>
            <a:pPr indent="0" algn="ctr">
              <a:lnSpc>
                <a:spcPct val="90000"/>
              </a:lnSpc>
              <a:spcBef>
                <a:spcPts val="1001"/>
              </a:spcBef>
              <a:buNone/>
              <a:tabLst>
                <a:tab algn="l" pos="0"/>
              </a:tabLst>
            </a:pPr>
            <a:r>
              <a:rPr b="0" lang="en-US" sz="2400" spc="-1" strike="noStrike">
                <a:solidFill>
                  <a:srgbClr val="000000"/>
                </a:solidFill>
                <a:latin typeface="Calibri"/>
              </a:rPr>
              <a:t>25 SEP 2026</a:t>
            </a:r>
            <a:endParaRPr b="0" lang="en-US" sz="2400" spc="-1" strike="noStrike">
              <a:solidFill>
                <a:srgbClr val="000000"/>
              </a:solidFill>
              <a:latin typeface="Arial"/>
            </a:endParaRPr>
          </a:p>
          <a:p>
            <a:pPr indent="0" algn="ctr">
              <a:lnSpc>
                <a:spcPct val="90000"/>
              </a:lnSpc>
              <a:spcBef>
                <a:spcPts val="1001"/>
              </a:spcBef>
              <a:buNone/>
              <a:tabLst>
                <a:tab algn="l" pos="0"/>
              </a:tabLst>
            </a:pP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Problem Statement</a:t>
            </a:r>
            <a:endParaRPr b="0" lang="en-US" sz="4400" spc="-1" strike="noStrike">
              <a:solidFill>
                <a:srgbClr val="000000"/>
              </a:solidFill>
              <a:latin typeface="Arial"/>
            </a:endParaRPr>
          </a:p>
        </p:txBody>
      </p:sp>
      <p:sp>
        <p:nvSpPr>
          <p:cNvPr id="85"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This project analyzes high-resolution smart meter data from four Moroccan cities (Laâyoune, Boujdour, Foum Eloued, and Marrakech) to classify electricity load readings as peak-demand or normal-demand periods. Because Laâyoune, Boujdour, and Foum Eloued are metered in Amperes while Marrakech is metered in Kilowatts, load values will be converted to a common unit using a standard voltage assumption before peak-demand magnitude is compared across cities. The goal is to identify when, how often, and how intensely peak-demand periods occur in each region, to inform infrastructure and demand-response planning.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Hypothesis Formulation</a:t>
            </a:r>
            <a:endParaRPr b="0" lang="en-US" sz="4400" spc="-1" strike="noStrike">
              <a:solidFill>
                <a:srgbClr val="000000"/>
              </a:solidFill>
              <a:latin typeface="Arial"/>
            </a:endParaRPr>
          </a:p>
        </p:txBody>
      </p:sp>
      <p:sp>
        <p:nvSpPr>
          <p:cNvPr id="87"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After converting all readings to a common unit (kW) and defining peak demand as load exceeding the 90th percentile of each city's own distribution, the timing, frequency, and relative intensity of peak-demand periods will differ significantly across cities/zones, and these differences will correlate with season and zone type (domestic vs. industrial) rather than occurring uniformly across regions.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Acquire</a:t>
            </a:r>
            <a:endParaRPr b="0" lang="en-US" sz="4400" spc="-1" strike="noStrike">
              <a:solidFill>
                <a:srgbClr val="000000"/>
              </a:solidFill>
              <a:latin typeface="Arial"/>
            </a:endParaRPr>
          </a:p>
        </p:txBody>
      </p:sp>
      <p:sp>
        <p:nvSpPr>
          <p:cNvPr id="89"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Looked through the datasets offered by the course, none of them seemed interesting and all were rather basic. Again, I went to UCI to see what they had and looked for the most recently added. The selected dataset piqued my interest as it was utility services, just electricity rather than water.</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Reference:</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Bensalah, M. &amp; Hair, A. (2025). High-Resolution Load Dataset from Smart Meters Across Various Cities in Morocco [Dataset]. UCI Machine Learning Repository. https://doi.org/10.24432/C5FC8R.</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1080" y="0"/>
            <a:ext cx="7999920" cy="9144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Prepare</a:t>
            </a:r>
            <a:endParaRPr b="0" lang="en-US" sz="4400" spc="-1" strike="noStrike">
              <a:solidFill>
                <a:srgbClr val="000000"/>
              </a:solidFill>
              <a:latin typeface="Arial"/>
            </a:endParaRPr>
          </a:p>
        </p:txBody>
      </p:sp>
      <p:sp>
        <p:nvSpPr>
          <p:cNvPr id="91" name="PlaceHolder 2"/>
          <p:cNvSpPr>
            <a:spLocks noGrp="1"/>
          </p:cNvSpPr>
          <p:nvPr>
            <p:ph/>
          </p:nvPr>
        </p:nvSpPr>
        <p:spPr>
          <a:xfrm>
            <a:off x="0" y="651600"/>
            <a:ext cx="12115800" cy="6206400"/>
          </a:xfrm>
          <a:prstGeom prst="rect">
            <a:avLst/>
          </a:prstGeom>
          <a:noFill/>
          <a:ln w="0">
            <a:noFill/>
          </a:ln>
        </p:spPr>
        <p:txBody>
          <a:bodyPr lIns="90000" rIns="90000" tIns="45000" bIns="45000" anchor="t">
            <a:noAutofit/>
          </a:bodyPr>
          <a:p>
            <a:pPr marL="228600" indent="0">
              <a:lnSpc>
                <a:spcPct val="90000"/>
              </a:lnSpc>
              <a:spcBef>
                <a:spcPts val="1001"/>
              </a:spcBef>
              <a:buNone/>
            </a:pPr>
            <a:r>
              <a:rPr b="0" lang="en-US" sz="1800" spc="-1" strike="noStrike">
                <a:solidFill>
                  <a:srgbClr val="000000"/>
                </a:solidFill>
                <a:latin typeface="Times New Roman"/>
                <a:ea typeface="Times New Roman"/>
              </a:rPr>
              <a:t>Merged the four city sheets from the provided .xlsx on DateTime after sorting each index (Marrakech was not sorted on DateTime) and removing duplicate timestamps.</a:t>
            </a:r>
            <a:endParaRPr b="0" lang="en-US" sz="1800" spc="-1" strike="noStrike">
              <a:solidFill>
                <a:srgbClr val="000000"/>
              </a:solidFill>
              <a:latin typeface="Arial"/>
            </a:endParaRPr>
          </a:p>
          <a:p>
            <a:pPr marL="228600" indent="0">
              <a:lnSpc>
                <a:spcPct val="90000"/>
              </a:lnSpc>
              <a:spcBef>
                <a:spcPts val="1001"/>
              </a:spcBef>
              <a:buNone/>
            </a:pPr>
            <a:r>
              <a:rPr b="0" lang="en-US" sz="1800" spc="-1" strike="noStrike">
                <a:solidFill>
                  <a:srgbClr val="000000"/>
                </a:solidFill>
                <a:latin typeface="Times New Roman"/>
                <a:ea typeface="Times New Roman"/>
              </a:rPr>
              <a:t>Standardized time resolution: resampled the other 3 cities from 10-minute to Marrakech’s 30-minute interval so all four cities align on the same timestamp grid.</a:t>
            </a:r>
            <a:endParaRPr b="0" lang="en-US" sz="1800" spc="-1" strike="noStrike">
              <a:solidFill>
                <a:srgbClr val="000000"/>
              </a:solidFill>
              <a:latin typeface="Arial"/>
            </a:endParaRPr>
          </a:p>
          <a:p>
            <a:pPr marL="228600" indent="0">
              <a:lnSpc>
                <a:spcPct val="90000"/>
              </a:lnSpc>
              <a:spcBef>
                <a:spcPts val="1001"/>
              </a:spcBef>
              <a:buNone/>
            </a:pPr>
            <a:r>
              <a:rPr b="0" lang="en-US" sz="1800" spc="-1" strike="noStrike">
                <a:solidFill>
                  <a:srgbClr val="000000"/>
                </a:solidFill>
                <a:latin typeface="Times New Roman"/>
                <a:ea typeface="Times New Roman"/>
              </a:rPr>
              <a:t>Identified a units mismatch: Laâyoune, Boujdour, and Foum Eloued are recorded in Amperes, while Marrakech is recorded in Kilowatts. This will be a known limitation for a direct cross-city magnitude comparison unless we do a unit conversion per row.</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Since Laâyoune, Boujdour, and Foum Eloued are metered in Amperes, converting to kW requires a voltage assumption (the    dataset doesn't include voltage directly, only the meter read, ie total consumption):</a:t>
            </a:r>
            <a:endParaRPr b="0" lang="en-US" sz="1800" spc="-1" strike="noStrike">
              <a:solidFill>
                <a:srgbClr val="000000"/>
              </a:solidFill>
              <a:latin typeface="Arial"/>
            </a:endParaRPr>
          </a:p>
          <a:p>
            <a:pPr indent="0">
              <a:lnSpc>
                <a:spcPct val="90000"/>
              </a:lnSpc>
              <a:spcBef>
                <a:spcPts val="1001"/>
              </a:spcBef>
              <a:buNone/>
            </a:pP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Single-phase: kW = (V × I × PF) / 1000</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Three-phase: kW = (√3 × V × I × PF) / 1000</a:t>
            </a:r>
            <a:endParaRPr b="0" lang="en-US" sz="1800" spc="-1" strike="noStrike">
              <a:solidFill>
                <a:srgbClr val="000000"/>
              </a:solidFill>
              <a:latin typeface="Arial"/>
            </a:endParaRPr>
          </a:p>
          <a:p>
            <a:pPr indent="0">
              <a:lnSpc>
                <a:spcPct val="90000"/>
              </a:lnSpc>
              <a:spcBef>
                <a:spcPts val="1001"/>
              </a:spcBef>
              <a:buNone/>
            </a:pP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Morocco's standard domestic supply is 220V AC single-phase; industrial connections are commonly 380V AC three-phase. Since the dataset separates domestic and industrial profiles, we will apply the matching formula per zone type, and we will state our assumed voltage per zone explicitly as a limitation in our report.</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There is a coverage gap. Marrakech data spans Jan 2023 – Jan 2024, which is less overall time than the Sep 2022 – May 2024 range for the other three cities. This will produce NaNs outside that window after the outer join.</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Analyze data</a:t>
            </a:r>
            <a:endParaRPr b="0" lang="en-US" sz="4400" spc="-1" strike="noStrike">
              <a:solidFill>
                <a:srgbClr val="000000"/>
              </a:solidFill>
              <a:latin typeface="Arial"/>
            </a:endParaRPr>
          </a:p>
        </p:txBody>
      </p:sp>
      <p:sp>
        <p:nvSpPr>
          <p:cNvPr id="93"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indent="0">
              <a:lnSpc>
                <a:spcPct val="90000"/>
              </a:lnSpc>
              <a:spcBef>
                <a:spcPts val="1001"/>
              </a:spcBef>
              <a:buNone/>
            </a:pPr>
            <a:r>
              <a:rPr b="0" lang="en-US" sz="1800" spc="-1" strike="noStrike">
                <a:solidFill>
                  <a:srgbClr val="000000"/>
                </a:solidFill>
                <a:latin typeface="Times New Roman"/>
                <a:ea typeface="Times New Roman"/>
              </a:rPr>
              <a:t>Applied a 90th-percentile-per-zone threshold to convert continuous kW readings into binary Peak/Normal labels — a data-driven definition that avoids assuming a fixed kW cutoff across cities with very different scales (e.g., Laâyoune's 90th percentile is 145 kW vs. Marrakech's 1,635 kW)</a:t>
            </a:r>
            <a:endParaRPr b="0" lang="en-US" sz="1800" spc="-1" strike="noStrike">
              <a:solidFill>
                <a:srgbClr val="000000"/>
              </a:solidFill>
              <a:latin typeface="Arial"/>
            </a:endParaRPr>
          </a:p>
          <a:p>
            <a:pPr indent="0">
              <a:lnSpc>
                <a:spcPct val="90000"/>
              </a:lnSpc>
              <a:spcBef>
                <a:spcPts val="1001"/>
              </a:spcBef>
              <a:buNone/>
            </a:pP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Used comparative visual EDA such as boxplots (distribution shape per zone), an hour-of-day heatmap (when peaks occur), a seasonal peak-rate heatmap (whether peaks cluster by time of year), and a zone-to-zone correlation matrix (whether zones move together) as the primary analytical techniques for this phase.</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Report</a:t>
            </a:r>
            <a:endParaRPr b="0" lang="en-US" sz="4400" spc="-1" strike="noStrike">
              <a:solidFill>
                <a:srgbClr val="000000"/>
              </a:solidFill>
              <a:latin typeface="Arial"/>
            </a:endParaRPr>
          </a:p>
        </p:txBody>
      </p:sp>
      <p:sp>
        <p:nvSpPr>
          <p:cNvPr id="95"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indent="0">
              <a:lnSpc>
                <a:spcPct val="90000"/>
              </a:lnSpc>
              <a:spcBef>
                <a:spcPts val="1001"/>
              </a:spcBef>
              <a:buNone/>
            </a:pPr>
            <a:r>
              <a:rPr b="0" lang="en-US" sz="1800" spc="-1" strike="noStrike">
                <a:solidFill>
                  <a:srgbClr val="000000"/>
                </a:solidFill>
                <a:latin typeface="Times New Roman"/>
                <a:ea typeface="Times New Roman"/>
              </a:rPr>
              <a:t>Marrakech's totals are far higher than the other three cities, but this likely reflects the fact the population of the cities are so vastly different. (See Figure 1)</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Laâyoune and Boujdour peak in the evening (6–11 PM), consistent with residential usage; Marrakech peaks during business hours (8 AM–6 PM) with near-zero activity from 11 PM–6 AM, consistent with commercial/institutional load rather than residential</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Foum Eloued's zone 6 spikes to a 45.9% peak rate in summer (vs. ~2% the rest of the year); Marrakech's zone 1 also peaks in summer (25.8%), both plausibly cooling-driven, while most Laâyoune and other Foum Eloued zones instead peak in fall</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Laâyoune's zones 2–5 correlate at 0.71–0.88 with each other, and Foum Eloued's zones 1–4 similarly cluster (0.72–0.86), while cross-city correlations stay mostly under 0.3, this supports the idea that each region behaves independently</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Peak timing and seasonal patterns clearly vary by region, supporting the hypothesis statement; direct intensity comparisons across cities remain confounded by unit/aggregation differences and are noted as a limitation for future work</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pic>
        <p:nvPicPr>
          <p:cNvPr id="96" name="" descr=""/>
          <p:cNvPicPr/>
          <p:nvPr/>
        </p:nvPicPr>
        <p:blipFill>
          <a:blip r:embed="rId1"/>
          <a:stretch/>
        </p:blipFill>
        <p:spPr>
          <a:xfrm>
            <a:off x="7652160" y="0"/>
            <a:ext cx="4539960" cy="1510920"/>
          </a:xfrm>
          <a:prstGeom prst="rect">
            <a:avLst/>
          </a:prstGeom>
          <a:ln w="0">
            <a:noFill/>
          </a:ln>
        </p:spPr>
      </p:pic>
      <p:sp>
        <p:nvSpPr>
          <p:cNvPr id="97" name=""/>
          <p:cNvSpPr txBox="1"/>
          <p:nvPr/>
        </p:nvSpPr>
        <p:spPr>
          <a:xfrm>
            <a:off x="6755040" y="18720"/>
            <a:ext cx="1017360" cy="346320"/>
          </a:xfrm>
          <a:prstGeom prst="rect">
            <a:avLst/>
          </a:prstGeom>
          <a:noFill/>
          <a:ln w="0">
            <a:noFill/>
          </a:ln>
        </p:spPr>
        <p:txBody>
          <a:bodyPr lIns="90000" rIns="90000" tIns="45000" bIns="45000" anchor="t">
            <a:noAutofit/>
          </a:bodyPr>
          <a:p>
            <a:r>
              <a:rPr b="0" i="1" lang="en-US" sz="1800" spc="-1" strike="noStrike">
                <a:solidFill>
                  <a:srgbClr val="000000"/>
                </a:solidFill>
                <a:latin typeface="Arial"/>
              </a:rPr>
              <a:t>Figure 1</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520" cy="132444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Act</a:t>
            </a:r>
            <a:endParaRPr b="0" lang="en-US" sz="4400" spc="-1" strike="noStrike">
              <a:solidFill>
                <a:srgbClr val="000000"/>
              </a:solidFill>
              <a:latin typeface="Arial"/>
            </a:endParaRPr>
          </a:p>
        </p:txBody>
      </p:sp>
      <p:sp>
        <p:nvSpPr>
          <p:cNvPr id="99" name="PlaceHolder 2"/>
          <p:cNvSpPr>
            <a:spLocks noGrp="1"/>
          </p:cNvSpPr>
          <p:nvPr>
            <p:ph/>
          </p:nvPr>
        </p:nvSpPr>
        <p:spPr>
          <a:xfrm>
            <a:off x="838080" y="1825560"/>
            <a:ext cx="10514520" cy="4350240"/>
          </a:xfrm>
          <a:prstGeom prst="rect">
            <a:avLst/>
          </a:prstGeom>
          <a:noFill/>
          <a:ln w="0">
            <a:noFill/>
          </a:ln>
        </p:spPr>
        <p:txBody>
          <a:bodyPr lIns="90000" rIns="90000" tIns="45000" bIns="45000" anchor="t">
            <a:noAutofit/>
          </a:bodyPr>
          <a:p>
            <a:pPr indent="0">
              <a:lnSpc>
                <a:spcPct val="90000"/>
              </a:lnSpc>
              <a:spcBef>
                <a:spcPts val="1001"/>
              </a:spcBef>
              <a:buNone/>
            </a:pPr>
            <a:r>
              <a:rPr b="0" lang="en-US" sz="1800" spc="-1" strike="noStrike">
                <a:solidFill>
                  <a:srgbClr val="000000"/>
                </a:solidFill>
                <a:latin typeface="Times New Roman"/>
                <a:ea typeface="Times New Roman"/>
              </a:rPr>
              <a:t>Micro-Project 3 will apply linear regression as a baseline model and Support Vector Regression (SVM) regression to predict continuous load values from time-based features (hour, season, zone). I may also apply an autoregressive integrated moving average (ARIMA) as that is also a popular choice for analyzing and forecasting time series data to compare to the SVM regression. Micro-Project 4 will apply RNN-based deep learning to model the sequential/time-series structure directly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1557</TotalTime>
  <Application>LibreOffice/7.4.4.2$Windows_X86_64 LibreOffice_project/85569322deea74ec9134968a29af2df5663baa21</Application>
  <AppVersion>15.0000</AppVersion>
  <Words>96</Words>
  <Paragraphs>17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2022-03-01T22:05:03Z</dcterms:created>
  <dc:creator>Emmanuel J Rodriguez</dc:creator>
  <dc:description/>
  <dc:language>en-US</dc:language>
  <cp:lastModifiedBy/>
  <dcterms:modified xsi:type="dcterms:W3CDTF">2026-09-25T16:44:49Z</dcterms:modified>
  <cp:revision>12</cp:revision>
  <dc:subject/>
  <dc:title>&lt;Project Title&gt; &lt;Micro-Project #&gt;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